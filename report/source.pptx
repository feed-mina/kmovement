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306" r:id="rId4"/>
    <p:sldId id="305" r:id="rId5"/>
    <p:sldId id="30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8" r:id="rId52"/>
    <p:sldId id="309" r:id="rId5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800" y="18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slide" Target="slides/slide34.xml"  /><Relationship Id="rId37" Type="http://schemas.openxmlformats.org/officeDocument/2006/relationships/slide" Target="slides/slide35.xml"  /><Relationship Id="rId38" Type="http://schemas.openxmlformats.org/officeDocument/2006/relationships/slide" Target="slides/slide36.xml"  /><Relationship Id="rId39" Type="http://schemas.openxmlformats.org/officeDocument/2006/relationships/slide" Target="slides/slide37.xml"  /><Relationship Id="rId4" Type="http://schemas.openxmlformats.org/officeDocument/2006/relationships/slide" Target="slides/slide2.xml"  /><Relationship Id="rId40" Type="http://schemas.openxmlformats.org/officeDocument/2006/relationships/slide" Target="slides/slide38.xml"  /><Relationship Id="rId41" Type="http://schemas.openxmlformats.org/officeDocument/2006/relationships/slide" Target="slides/slide39.xml"  /><Relationship Id="rId42" Type="http://schemas.openxmlformats.org/officeDocument/2006/relationships/slide" Target="slides/slide40.xml"  /><Relationship Id="rId43" Type="http://schemas.openxmlformats.org/officeDocument/2006/relationships/slide" Target="slides/slide41.xml"  /><Relationship Id="rId44" Type="http://schemas.openxmlformats.org/officeDocument/2006/relationships/slide" Target="slides/slide42.xml"  /><Relationship Id="rId45" Type="http://schemas.openxmlformats.org/officeDocument/2006/relationships/slide" Target="slides/slide43.xml"  /><Relationship Id="rId46" Type="http://schemas.openxmlformats.org/officeDocument/2006/relationships/slide" Target="slides/slide44.xml"  /><Relationship Id="rId47" Type="http://schemas.openxmlformats.org/officeDocument/2006/relationships/slide" Target="slides/slide45.xml"  /><Relationship Id="rId48" Type="http://schemas.openxmlformats.org/officeDocument/2006/relationships/slide" Target="slides/slide46.xml"  /><Relationship Id="rId49" Type="http://schemas.openxmlformats.org/officeDocument/2006/relationships/slide" Target="slides/slide47.xml"  /><Relationship Id="rId5" Type="http://schemas.openxmlformats.org/officeDocument/2006/relationships/slide" Target="slides/slide3.xml"  /><Relationship Id="rId50" Type="http://schemas.openxmlformats.org/officeDocument/2006/relationships/slide" Target="slides/slide48.xml"  /><Relationship Id="rId51" Type="http://schemas.openxmlformats.org/officeDocument/2006/relationships/slide" Target="slides/slide49.xml"  /><Relationship Id="rId52" Type="http://schemas.openxmlformats.org/officeDocument/2006/relationships/slide" Target="slides/slide50.xml"  /><Relationship Id="rId53" Type="http://schemas.openxmlformats.org/officeDocument/2006/relationships/slide" Target="slides/slide51.xml"  /><Relationship Id="rId54" Type="http://schemas.openxmlformats.org/officeDocument/2006/relationships/presProps" Target="presProps.xml"  /><Relationship Id="rId55" Type="http://schemas.openxmlformats.org/officeDocument/2006/relationships/viewProps" Target="viewProps.xml"  /><Relationship Id="rId56" Type="http://schemas.openxmlformats.org/officeDocument/2006/relationships/theme" Target="theme/theme1.xml"  /><Relationship Id="rId57" Type="http://schemas.openxmlformats.org/officeDocument/2006/relationships/tableStyles" Target="tableStyles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 idx="0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a805c11db1004951" Type="http://schemas.openxmlformats.org/officeDocument/2006/relationships/notesMaster" Target="../notesMasters/notesMaster1.xml"  /><Relationship Id="Rcf39c8e4b2454860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ae6dfa4bbe6e445f" Type="http://schemas.openxmlformats.org/officeDocument/2006/relationships/slide" Target="../slides/slide5.xml"  /><Relationship Id="Re7513afc93b34d21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2c68a89c12f74aa0" Type="http://schemas.openxmlformats.org/officeDocument/2006/relationships/slide" Target="../slides/slide6.xml"  /><Relationship Id="Re3d274964ba44e5d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256e646a58f24790" Type="http://schemas.openxmlformats.org/officeDocument/2006/relationships/notesMaster" Target="../notesMasters/notesMaster1.xml"  /><Relationship Id="Rb90ccf946c8d48ed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4963f9da178245ea" Type="http://schemas.openxmlformats.org/officeDocument/2006/relationships/notesMaster" Target="../notesMasters/notesMaster1.xml"  /><Relationship Id="R810ed04525ce4a35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af1692e550f94b7f" Type="http://schemas.openxmlformats.org/officeDocument/2006/relationships/notesMaster" Target="../notesMasters/notesMaster1.xml"  /><Relationship Id="Rea74928649fe46da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e27d1fe98d6b4c4d" Type="http://schemas.openxmlformats.org/officeDocument/2006/relationships/notesMaster" Target="../notesMasters/notesMaster1.xml"  /><Relationship Id="Ree411fa8fdb84a3e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8669b28182104089" Type="http://schemas.openxmlformats.org/officeDocument/2006/relationships/slide" Target="../slides/slide11.xml"  /><Relationship Id="Rcc79fd3c6a8e417b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1acfa1564c7e4579" Type="http://schemas.openxmlformats.org/officeDocument/2006/relationships/slide" Target="../slides/slide12.xml"  /><Relationship Id="R732b2737d624463d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4066429db6684bd0" Type="http://schemas.openxmlformats.org/officeDocument/2006/relationships/notesMaster" Target="../notesMasters/notesMaster1.xml"  /><Relationship Id="R8eea441ef1304b87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78f7e62a678a4aea" Type="http://schemas.openxmlformats.org/officeDocument/2006/relationships/notesMaster" Target="../notesMasters/notesMaster1.xml"  /><Relationship Id="Rf2745276ee9c4f0a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a732f30d5581406a" Type="http://schemas.openxmlformats.org/officeDocument/2006/relationships/notesMaster" Target="../notesMasters/notesMaster1.xml"  /><Relationship Id="Re4408841e2b04a9b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8d5960da6068458e" Type="http://schemas.openxmlformats.org/officeDocument/2006/relationships/notesMaster" Target="../notesMasters/notesMaster1.xml"  /><Relationship Id="Reaebafd91c6a4154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9f609931446c43da" Type="http://schemas.openxmlformats.org/officeDocument/2006/relationships/slide" Target="../slides/slide17.xml"  /><Relationship Id="Rf2be944c300d480b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42e1e354196b45d6" Type="http://schemas.openxmlformats.org/officeDocument/2006/relationships/slide" Target="../slides/slide18.xml"  /><Relationship Id="R715a4b6dbc1e4166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08185df3b08f4da2" Type="http://schemas.openxmlformats.org/officeDocument/2006/relationships/slide" Target="../slides/slide19.xml"  /><Relationship Id="R32ec54d415cc425d" Type="http://schemas.openxmlformats.org/officeDocument/2006/relationships/notesMaster" Target="../notesMasters/notesMaster1.xml"  /></Relationships>
</file>

<file path=ppt/notesSlides/_rels/notesSlide20.xml.rels><?xml version="1.0" encoding="UTF-8" standalone="yes" ?><Relationships xmlns="http://schemas.openxmlformats.org/package/2006/relationships"><Relationship Id="R01f8f518b76a4582" Type="http://schemas.openxmlformats.org/officeDocument/2006/relationships/notesMaster" Target="../notesMasters/notesMaster1.xml"  /><Relationship Id="Re5383808d3b94d0b" Type="http://schemas.openxmlformats.org/officeDocument/2006/relationships/slide" Target="../slides/slide20.xml"  /></Relationships>
</file>

<file path=ppt/notesSlides/_rels/notesSlide21.xml.rels><?xml version="1.0" encoding="UTF-8" standalone="yes" ?><Relationships xmlns="http://schemas.openxmlformats.org/package/2006/relationships"><Relationship Id="R461220c5c5e04348" Type="http://schemas.openxmlformats.org/officeDocument/2006/relationships/notesMaster" Target="../notesMasters/notesMaster1.xml"  /><Relationship Id="R4fc7e9ac6cf641b4" Type="http://schemas.openxmlformats.org/officeDocument/2006/relationships/slide" Target="../slides/slide21.xml"  /></Relationships>
</file>

<file path=ppt/notesSlides/_rels/notesSlide22.xml.rels><?xml version="1.0" encoding="UTF-8" standalone="yes" ?><Relationships xmlns="http://schemas.openxmlformats.org/package/2006/relationships"><Relationship Id="Ra851c0e15cab44c2" Type="http://schemas.openxmlformats.org/officeDocument/2006/relationships/notesMaster" Target="../notesMasters/notesMaster1.xml"  /><Relationship Id="Rbc569c2ddc2b42cf" Type="http://schemas.openxmlformats.org/officeDocument/2006/relationships/slide" Target="../slides/slide22.xml"  /></Relationships>
</file>

<file path=ppt/notesSlides/_rels/notesSlide23.xml.rels><?xml version="1.0" encoding="UTF-8" standalone="yes" ?><Relationships xmlns="http://schemas.openxmlformats.org/package/2006/relationships"><Relationship Id="R6fe09de1195a4d55" Type="http://schemas.openxmlformats.org/officeDocument/2006/relationships/slide" Target="../slides/slide23.xml"  /><Relationship Id="R8f1ca9419aa34694" Type="http://schemas.openxmlformats.org/officeDocument/2006/relationships/notesMaster" Target="../notesMasters/notesMaster1.xml"  /></Relationships>
</file>

<file path=ppt/notesSlides/_rels/notesSlide24.xml.rels><?xml version="1.0" encoding="UTF-8" standalone="yes" ?><Relationships xmlns="http://schemas.openxmlformats.org/package/2006/relationships"><Relationship Id="R7148db9f67a646c5" Type="http://schemas.openxmlformats.org/officeDocument/2006/relationships/notesMaster" Target="../notesMasters/notesMaster1.xml"  /><Relationship Id="Re439c6115a7d4d38" Type="http://schemas.openxmlformats.org/officeDocument/2006/relationships/slide" Target="../slides/slide24.xml"  /></Relationships>
</file>

<file path=ppt/notesSlides/_rels/notesSlide25.xml.rels><?xml version="1.0" encoding="UTF-8" standalone="yes" ?><Relationships xmlns="http://schemas.openxmlformats.org/package/2006/relationships"><Relationship Id="Rbb2d076bc2584cf2" Type="http://schemas.openxmlformats.org/officeDocument/2006/relationships/notesMaster" Target="../notesMasters/notesMaster1.xml"  /><Relationship Id="Rd807623f32e941d9" Type="http://schemas.openxmlformats.org/officeDocument/2006/relationships/slide" Target="../slides/slide25.xml"  /></Relationships>
</file>

<file path=ppt/notesSlides/_rels/notesSlide26.xml.rels><?xml version="1.0" encoding="UTF-8" standalone="yes" ?><Relationships xmlns="http://schemas.openxmlformats.org/package/2006/relationships"><Relationship Id="R4639069bf6b6413f" Type="http://schemas.openxmlformats.org/officeDocument/2006/relationships/slide" Target="../slides/slide26.xml"  /><Relationship Id="R70668ac2a02547b5" Type="http://schemas.openxmlformats.org/officeDocument/2006/relationships/notesMaster" Target="../notesMasters/notesMaster1.xml"  /></Relationships>
</file>

<file path=ppt/notesSlides/_rels/notesSlide27.xml.rels><?xml version="1.0" encoding="UTF-8" standalone="yes" ?><Relationships xmlns="http://schemas.openxmlformats.org/package/2006/relationships"><Relationship Id="R1b2c8623098e4614" Type="http://schemas.openxmlformats.org/officeDocument/2006/relationships/slide" Target="../slides/slide27.xml"  /><Relationship Id="R45fed33dbfeb44cd" Type="http://schemas.openxmlformats.org/officeDocument/2006/relationships/notesMaster" Target="../notesMasters/notesMaster1.xml"  /></Relationships>
</file>

<file path=ppt/notesSlides/_rels/notesSlide28.xml.rels><?xml version="1.0" encoding="UTF-8" standalone="yes" ?><Relationships xmlns="http://schemas.openxmlformats.org/package/2006/relationships"><Relationship Id="Rbc0fe3fc2ab049fe" Type="http://schemas.openxmlformats.org/officeDocument/2006/relationships/notesMaster" Target="../notesMasters/notesMaster1.xml"  /><Relationship Id="Rff7884fdb0184a27" Type="http://schemas.openxmlformats.org/officeDocument/2006/relationships/slide" Target="../slides/slide28.xml"  /></Relationships>
</file>

<file path=ppt/notesSlides/_rels/notesSlide29.xml.rels><?xml version="1.0" encoding="UTF-8" standalone="yes" ?><Relationships xmlns="http://schemas.openxmlformats.org/package/2006/relationships"><Relationship Id="R8e38a0255223481a" Type="http://schemas.openxmlformats.org/officeDocument/2006/relationships/notesMaster" Target="../notesMasters/notesMaster1.xml"  /><Relationship Id="Rca7ab47e97954f41" Type="http://schemas.openxmlformats.org/officeDocument/2006/relationships/slide" Target="../slides/slide29.xml"  /></Relationships>
</file>

<file path=ppt/notesSlides/_rels/notesSlide30.xml.rels><?xml version="1.0" encoding="UTF-8" standalone="yes" ?><Relationships xmlns="http://schemas.openxmlformats.org/package/2006/relationships"><Relationship Id="R2a428e8311da4630" Type="http://schemas.openxmlformats.org/officeDocument/2006/relationships/notesMaster" Target="../notesMasters/notesMaster1.xml"  /><Relationship Id="R43307c48949f4034" Type="http://schemas.openxmlformats.org/officeDocument/2006/relationships/slide" Target="../slides/slide30.xml"  /></Relationships>
</file>

<file path=ppt/notesSlides/_rels/notesSlide31.xml.rels><?xml version="1.0" encoding="UTF-8" standalone="yes" ?><Relationships xmlns="http://schemas.openxmlformats.org/package/2006/relationships"><Relationship Id="R6b0a5016da5a4cf5" Type="http://schemas.openxmlformats.org/officeDocument/2006/relationships/notesMaster" Target="../notesMasters/notesMaster1.xml"  /><Relationship Id="Re344aeb0a5284838" Type="http://schemas.openxmlformats.org/officeDocument/2006/relationships/slide" Target="../slides/slide31.xml"  /></Relationships>
</file>

<file path=ppt/notesSlides/_rels/notesSlide32.xml.rels><?xml version="1.0" encoding="UTF-8" standalone="yes" ?><Relationships xmlns="http://schemas.openxmlformats.org/package/2006/relationships"><Relationship Id="Rc4e5d47e8eff4d2f" Type="http://schemas.openxmlformats.org/officeDocument/2006/relationships/notesMaster" Target="../notesMasters/notesMaster1.xml"  /><Relationship Id="Rfc8396c13854477c" Type="http://schemas.openxmlformats.org/officeDocument/2006/relationships/slide" Target="../slides/slide32.xml"  /></Relationships>
</file>

<file path=ppt/notesSlides/_rels/notesSlide33.xml.rels><?xml version="1.0" encoding="UTF-8" standalone="yes" ?><Relationships xmlns="http://schemas.openxmlformats.org/package/2006/relationships"><Relationship Id="R086a4deb6f644d42" Type="http://schemas.openxmlformats.org/officeDocument/2006/relationships/slide" Target="../slides/slide33.xml"  /><Relationship Id="R379ecb2466bc4927" Type="http://schemas.openxmlformats.org/officeDocument/2006/relationships/notesMaster" Target="../notesMasters/notesMaster1.xml"  /></Relationships>
</file>

<file path=ppt/notesSlides/_rels/notesSlide34.xml.rels><?xml version="1.0" encoding="UTF-8" standalone="yes" ?><Relationships xmlns="http://schemas.openxmlformats.org/package/2006/relationships"><Relationship Id="Rabe119e951e44130" Type="http://schemas.openxmlformats.org/officeDocument/2006/relationships/notesMaster" Target="../notesMasters/notesMaster1.xml"  /><Relationship Id="Rb9e3fd8d14644e94" Type="http://schemas.openxmlformats.org/officeDocument/2006/relationships/slide" Target="../slides/slide34.xml"  /></Relationships>
</file>

<file path=ppt/notesSlides/_rels/notesSlide35.xml.rels><?xml version="1.0" encoding="UTF-8" standalone="yes" ?><Relationships xmlns="http://schemas.openxmlformats.org/package/2006/relationships"><Relationship Id="R7591331aa61145d7" Type="http://schemas.openxmlformats.org/officeDocument/2006/relationships/slide" Target="../slides/slide35.xml"  /><Relationship Id="Rfecd8a79aaac43e9" Type="http://schemas.openxmlformats.org/officeDocument/2006/relationships/notesMaster" Target="../notesMasters/notesMaster1.xml"  /></Relationships>
</file>

<file path=ppt/notesSlides/_rels/notesSlide36.xml.rels><?xml version="1.0" encoding="UTF-8" standalone="yes" ?><Relationships xmlns="http://schemas.openxmlformats.org/package/2006/relationships"><Relationship Id="Rc23145e939424423" Type="http://schemas.openxmlformats.org/officeDocument/2006/relationships/slide" Target="../slides/slide36.xml"  /><Relationship Id="Rce64bda675f64460" Type="http://schemas.openxmlformats.org/officeDocument/2006/relationships/notesMaster" Target="../notesMasters/notesMaster1.xml"  /></Relationships>
</file>

<file path=ppt/notesSlides/_rels/notesSlide37.xml.rels><?xml version="1.0" encoding="UTF-8" standalone="yes" ?><Relationships xmlns="http://schemas.openxmlformats.org/package/2006/relationships"><Relationship Id="Re8c6ae543fe14e3c" Type="http://schemas.openxmlformats.org/officeDocument/2006/relationships/slide" Target="../slides/slide37.xml"  /><Relationship Id="Rfa0844ce88324c21" Type="http://schemas.openxmlformats.org/officeDocument/2006/relationships/notesMaster" Target="../notesMasters/notesMaster1.xml"  /></Relationships>
</file>

<file path=ppt/notesSlides/_rels/notesSlide38.xml.rels><?xml version="1.0" encoding="UTF-8" standalone="yes" ?><Relationships xmlns="http://schemas.openxmlformats.org/package/2006/relationships"><Relationship Id="R5b64c26562014614" Type="http://schemas.openxmlformats.org/officeDocument/2006/relationships/notesMaster" Target="../notesMasters/notesMaster1.xml"  /><Relationship Id="R6c8a228825fa4aff" Type="http://schemas.openxmlformats.org/officeDocument/2006/relationships/slide" Target="../slides/slide38.xml"  /></Relationships>
</file>

<file path=ppt/notesSlides/_rels/notesSlide39.xml.rels><?xml version="1.0" encoding="UTF-8" standalone="yes" ?><Relationships xmlns="http://schemas.openxmlformats.org/package/2006/relationships"><Relationship Id="R20a5ea589a394b25" Type="http://schemas.openxmlformats.org/officeDocument/2006/relationships/notesMaster" Target="../notesMasters/notesMaster1.xml"  /><Relationship Id="R399766d53518462e" Type="http://schemas.openxmlformats.org/officeDocument/2006/relationships/slide" Target="../slides/slide39.xml"  /></Relationships>
</file>

<file path=ppt/notesSlides/_rels/notesSlide40.xml.rels><?xml version="1.0" encoding="UTF-8" standalone="yes" ?><Relationships xmlns="http://schemas.openxmlformats.org/package/2006/relationships"><Relationship Id="R06f8f893193b43e6" Type="http://schemas.openxmlformats.org/officeDocument/2006/relationships/slide" Target="../slides/slide40.xml"  /><Relationship Id="R64ebf89007674870" Type="http://schemas.openxmlformats.org/officeDocument/2006/relationships/notesMaster" Target="../notesMasters/notesMaster1.xml"  /></Relationships>
</file>

<file path=ppt/notesSlides/_rels/notesSlide41.xml.rels><?xml version="1.0" encoding="UTF-8" standalone="yes" ?><Relationships xmlns="http://schemas.openxmlformats.org/package/2006/relationships"><Relationship Id="R9a415088342949c0" Type="http://schemas.openxmlformats.org/officeDocument/2006/relationships/notesMaster" Target="../notesMasters/notesMaster1.xml"  /><Relationship Id="Rd2516e1c3e86436a" Type="http://schemas.openxmlformats.org/officeDocument/2006/relationships/slide" Target="../slides/slide41.xml"  /></Relationships>
</file>

<file path=ppt/notesSlides/_rels/notesSlide42.xml.rels><?xml version="1.0" encoding="UTF-8" standalone="yes" ?><Relationships xmlns="http://schemas.openxmlformats.org/package/2006/relationships"><Relationship Id="R3c4ac7aa346b4918" Type="http://schemas.openxmlformats.org/officeDocument/2006/relationships/notesMaster" Target="../notesMasters/notesMaster1.xml"  /><Relationship Id="Raa717ffa8ae34da9" Type="http://schemas.openxmlformats.org/officeDocument/2006/relationships/slide" Target="../slides/slide42.xml"  /></Relationships>
</file>

<file path=ppt/notesSlides/_rels/notesSlide43.xml.rels><?xml version="1.0" encoding="UTF-8" standalone="yes" ?><Relationships xmlns="http://schemas.openxmlformats.org/package/2006/relationships"><Relationship Id="R3f98c9ec02a54730" Type="http://schemas.openxmlformats.org/officeDocument/2006/relationships/slide" Target="../slides/slide43.xml"  /><Relationship Id="R99d826e7895c4b10" Type="http://schemas.openxmlformats.org/officeDocument/2006/relationships/notesMaster" Target="../notesMasters/notesMaster1.xml"  /></Relationships>
</file>

<file path=ppt/notesSlides/_rels/notesSlide44.xml.rels><?xml version="1.0" encoding="UTF-8" standalone="yes" ?><Relationships xmlns="http://schemas.openxmlformats.org/package/2006/relationships"><Relationship Id="R05d2c7b0f5b949b1" Type="http://schemas.openxmlformats.org/officeDocument/2006/relationships/slide" Target="../slides/slide44.xml"  /><Relationship Id="R2940a8f8a3aa451b" Type="http://schemas.openxmlformats.org/officeDocument/2006/relationships/notesMaster" Target="../notesMasters/notesMaster1.xml"  /></Relationships>
</file>

<file path=ppt/notesSlides/_rels/notesSlide45.xml.rels><?xml version="1.0" encoding="UTF-8" standalone="yes" ?><Relationships xmlns="http://schemas.openxmlformats.org/package/2006/relationships"><Relationship Id="R436bd1f91e1c4382" Type="http://schemas.openxmlformats.org/officeDocument/2006/relationships/notesMaster" Target="../notesMasters/notesMaster1.xml"  /><Relationship Id="Re2c09cb7528d4738" Type="http://schemas.openxmlformats.org/officeDocument/2006/relationships/slide" Target="../slides/slide45.xml"  /></Relationships>
</file>

<file path=ppt/notesSlides/_rels/notesSlide46.xml.rels><?xml version="1.0" encoding="UTF-8" standalone="yes" ?><Relationships xmlns="http://schemas.openxmlformats.org/package/2006/relationships"><Relationship Id="R1221c02924834099" Type="http://schemas.openxmlformats.org/officeDocument/2006/relationships/slide" Target="../slides/slide46.xml"  /><Relationship Id="Ra26b87b42b344e4c" Type="http://schemas.openxmlformats.org/officeDocument/2006/relationships/notesMaster" Target="../notesMasters/notesMaster1.xml"  /></Relationships>
</file>

<file path=ppt/notesSlides/_rels/notesSlide47.xml.rels><?xml version="1.0" encoding="UTF-8" standalone="yes" ?><Relationships xmlns="http://schemas.openxmlformats.org/package/2006/relationships"><Relationship Id="R1b24b78799cf4038" Type="http://schemas.openxmlformats.org/officeDocument/2006/relationships/slide" Target="../slides/slide47.xml"  /><Relationship Id="R49242c264bb64881" Type="http://schemas.openxmlformats.org/officeDocument/2006/relationships/notesMaster" Target="../notesMasters/notesMaster1.xml"  /></Relationships>
</file>

<file path=ppt/notesSlides/_rels/notesSlide48.xml.rels><?xml version="1.0" encoding="UTF-8" standalone="yes" ?><Relationships xmlns="http://schemas.openxmlformats.org/package/2006/relationships"><Relationship Id="R0281004c9d9d4e11" Type="http://schemas.openxmlformats.org/officeDocument/2006/relationships/slide" Target="../slides/slide48.xml"  /><Relationship Id="R3a650ae6cc7b4eb9" Type="http://schemas.openxmlformats.org/officeDocument/2006/relationships/notesMaster" Target="../notesMasters/notesMaster1.xml"  /></Relationships>
</file>

<file path=ppt/notesSlides/_rels/notesSlide49.xml.rels><?xml version="1.0" encoding="UTF-8" standalone="yes" ?><Relationships xmlns="http://schemas.openxmlformats.org/package/2006/relationships"><Relationship Id="R3fe0b09ef2f84b98" Type="http://schemas.openxmlformats.org/officeDocument/2006/relationships/slide" Target="../slides/slide49.xml"  /><Relationship Id="Rae67846cf57f4a81" Type="http://schemas.openxmlformats.org/officeDocument/2006/relationships/notesMaster" Target="../notesMasters/notesMaster1.xml"  /></Relationships>
</file>

<file path=ppt/notesSlides/_rels/notesSlide50.xml.rels><?xml version="1.0" encoding="UTF-8" standalone="yes" ?><Relationships xmlns="http://schemas.openxmlformats.org/package/2006/relationships"><Relationship Id="rId1" Type="http://schemas.openxmlformats.org/officeDocument/2006/relationships/slide" Target="../slides/slide50.xml"  /><Relationship Id="rId2" Type="http://schemas.openxmlformats.org/officeDocument/2006/relationships/notesMaster" Target="../notesMasters/notesMaster1.xml"  /></Relationships>
</file>

<file path=ppt/notesSlides/_rels/notesSlide51.xml.rels><?xml version="1.0" encoding="UTF-8" standalone="yes" ?><Relationships xmlns="http://schemas.openxmlformats.org/package/2006/relationships"><Relationship Id="rId1" Type="http://schemas.openxmlformats.org/officeDocument/2006/relationships/slide" Target="../slides/slide5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장에서는 기능 목록을 말하지 말고, 이 프로젝트가 추천, 데이터, 모델 서빙, 미디어 생성까지 묶은 통합 실험이었다고 소개합니다. 2개월 동안 밤새며 만든 흔적을 기술 스택보다 의사결정의 흐름으로 보여주는 발표라고 말하면 좋습니다.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이 장은 공식 로고 모음이 아니라 발표용 대표 심볼 보드입니다. 화면, 서버, 데이터베이스, 실행 환경에 사용한 기술을 시각적으로 한 번에 보여주는 용도입니다.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853632245"/>
      </p:ext>
    </p:extLst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이 장은 AI 모델링과 MLOps, 협업 도구를 묶은 대표 심볼 보드입니다. PyTorch, scikit-learn, TabNet, MLflow, TorchServe, DagsHub, Git/GitHub, BLIP-2, GPT-SoVITS, FFmpeg의 역할을 짧게 설명하면 됩니다.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824774277"/>
      </p:ext>
    </p:extLst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동기는 세 가지로 말합니다. 첫째 기존 K-Ride는 경로와 추천 중심이었고, 둘째 사용자는 왜 이 장소가 추천되는지 알고 싶어하며, 셋째 생성형 AI를 붙이려면 모델을 호출하는 화면이 아니라 데이터와 비동기 운영 구조가 필요했습니다.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947099672"/>
      </p:ext>
    </p:extLst>
  </p:cSld>
  <p:clrMapOvr>
    <a:masterClrMapping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전체 구조의 지도입니다. 뒤에서 나오는 모든 내용은 이 네 레이어 중 하나에 들어간다고 안내하면 청중이 길을 잃지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에이전트를 썼다는 사실만 말하지 말고, 단순 자동생성이 아니라 탐색, 구현, 검증, 문서화의 반복 루프를 줄이는 데 썼다고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챕터 전환 슬라이드입니다. 발표에서는 데이터가 왜 중요한지 한 문장만 말하고 바로 다음 증거로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눈에 보이는 숫자만 읽지 말고, 데이터마다 역할이 달랐다고 말합니다. POI는 후보군, 날씨는 안전 보정, 소비는 예산 현실성, K-culture는 취향 그래프를 맡았습니다.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적재라는 단어를 DB insert로 좁히지 말고, 모델이 먹을 수 있는 형태로 바꾸는 전처리라고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장에서는 DB 도구를 기술 나열로 말하지 않습니다. 관계형은 정합성, 벡터는 의미 검색, 그래프는 관계, 파일 저장소는 대용량 미디어라는 식으로 역할 중심으로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여기서는 추천 품질보다 설명 가능성을 강조합니다. 사용자가 BTS, 전통시장, 일본어 질의를 넣어도 다국어 임베딩과 후보 검색이 연결되도록 설계했다는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아키텍처 파트는 구현 자랑보다 책임 분리가 주제입니다. 프론트는 화면, Spring은 운영 API, FastAPI는 AI 오케스트레이션, TorchServe는 모델 추론으로 나뉩니다.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전체 시스템 그림입니다. AI 모델을 프론트에서 바로 부르는 것이 아니라, 서버 계층이 요청을 받고 비동기 작업과 모델 서빙을 분리했다고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GIF 자체는 발표 안정성을 위해 대표 프레임으로 넣었습니다. 노트에서 원본 GIF 경로를 말할 수 있습니다. SDUI는 화면 배포 속도를 높이기 위한 구조였다고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기능은 단순 게시판 기능이 아니라, 나중에 이미지에서 영상을 만드는 AI 모델의 입력 데이터가 됩니다. 작성 화면에서 업로드하고, read 화면에서 다시 볼 수 있어야 한다는 요구를 충족했습니다.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커뮤니티 CRUD는 빠른 요청이고, 영상 생성은 오래 걸리는 작업입니다. 그래서 하나의 API 요청 안에서 모두 처리하지 않고 job_id와 큐 구조로 분리해야 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TorchServe는 모델 배포 예시로 간략히만 말합니다. 핵심은 API 서버가 모델 파일을 직접 들고 있지 않고, 모델 서빙 프로세스로 분리했다는 점입니다.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말한 docker compose build --no-cache 실행 방식도 이 흐름 안에 넣었습니다. 발표에서는 배포가 아직 완성 운영이 아니라 재현 가능한 개발/검증 파이프라인이라는 점을 정확히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모델링 파트에서는 성능표보다 산출물이 어디에 쓰였는지를 중심으로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여기서는 모델 이름을 한 번에 보여줍니다. 다음 슬라이드부터는 각 모델을 입력, 오픈소스 근거, 산출물, 서비스 연결 순서로 짧게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WeatherLSTM은 날씨 예측 자체가 목적이 아니라, 비나 흐림을 경로 추천의 안전 보정값으로 연결하기 위한 모델입니다. 맑음, 흐림, 비/눈 세 클래스로 나눠 safety penalty를 주는 구조라고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날씨 모델은 맑음은 잘 맞지만 흐림 클래스가 약했습니다. 이 약점을 숨기지 않고 데이터 불균형과 클래스별 보완 필요성을 트러블슈팅 흐름으로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 모델은 RandomForest 기반입니다. 성능이 높게 나온 만큼 과적합 가능성도 함께 말하고, 그래서 실제 서비스에서는 사고 데이터와 최신 도로 데이터를 계속 보강해야 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 TabNet은 거리만 보는 추천의 한계를 줄이기 위해 만들었습니다. 방문 순서, 위치, 체류, 재방문 의향 등의 데이터를 사용해 tourism score로 연결했습니다.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슬라이드에서는 추천이 단순히 가까운 장소를 나열하는 것이 아니라, 함께 방문되는 패턴과 카테고리 선호를 반영하려 했다고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소비 예측은 비용을 정확히 맞히는 것보다 추천 조건에 예산 현실성을 넣기 위한 모델입니다. R2와 MAE를 그대로 보여주되, 지역 오차를 함께 본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지역별 오차가 있다는 점은 발표에서 중요한 트러블슈팅 포인트입니다. 전국 데이터를 넣으면서 현실성은 올라갔지만 지역 편차를 보정해야 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GraphRAG는 추천의 설명 가능성을 맡습니다. qwen2.5 로컬 시도와 Groq API 전환을 비교하면서 속도 개선도 이야기할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모델링 파트의 결론입니다. 각 모델이 따로 끝나는 것이 아니라 최종 경로 추천의 weight와 설명으로 합쳐진다고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미디어 파트에서는 모델을 나열하지 말고 이미지가 어떻게 텍스트, 음성, 영상으로 확장되는지 순서대로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여기서는 커뮤니티 이미지 업로드가 왜 중요했는지를 다시 연결합니다. 게시판 이미지는 단순 첨부파일이 아니라 여행로그 생성 AI의 원천 데이터입니다.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BLIP-2는 영상을 직접 만드는 모델이 아닙니다. 사진을 설명 가능한 텍스트와 영상 프롬프트로 바꾸는 중간 단계라고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TTS는 트러블슈팅이 많았던 부분입니다. 발표에서는 GPT-SoVITS를 목표로 잡았지만, 실제 운영은 fallback을 함께 설계해야 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무조건 큰 모델을 쓰는 것이 아니라, 비용과 대기시간에 따라 3D Photo Inpainting 같은 가벼운 방식도 함께 고려했다고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FFmpeg는 마지막 합성 단계입니다. 영상 생성 모델 자체보다 결과물을 서비스에서 재생 가능한 하나의 파일로 만드는 과정이 중요하다고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시안 발표에서는 완성도를 과장하지 않고, 남아 있는 산출물을 증거로 보여주는 태도가 좋습니다. 캡처와 차트가 실제 작업 기록입니다.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트러블슈팅 파트는 길게 변명하지 말고, 문제와 바꾼 구조를 한 번에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TTS 트러블슈팅은 발표에서 좋은 포인트입니다. 단순 오류가 아니라, 연구용 WebUI와 서비스용 API의 입력 규칙이 다르다는 사실을 찾아낸 과정이라고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영상 생성은 멋있는 모델보다 운영 구조가 중요했습니다. 그래서 FastAPI가 즉시 job_id를 돌려주고 Celery가 뒤에서 처리하는 구조로 설계했습니다.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모델링 트러블슈팅은 실패를 숨기는 게 아니라, 어떤 지표가 약했고 어떤 그림으로 검증했는지를 보여주는 부분입니다.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여기서는 기존 캡처 이미지가 왜 남아 있는지 설명합니다. 완벽한 홍보 이미지가 아니라, 실제로 문제를 찾고 고친 근거입니다.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파트입니다. 현재 사용하는 도구와 남아 있는 증거를 보여주며 프로젝트가 계속 이어질 수 있음을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도구 나열은 짧게 갑니다. 중요한 건 도구를 많이 쓴 것이 아니라, 각 도구가 어떤 책임을 맡았는지입니다.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요청한 대로 기존 커뮤니티 캡처 이미지를 삭제하지 않고 보존했습니다. 발표에서는 이 슬라이드를 빠르게 넘기며 기능 검증 아카이브라고 말하면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한글 파일명 캡처도 최종 덱에 그대로 들어갑니다. 발표에서는 모든 캡처를 하나씩 설명하지 말고, 실제 화면 검증과 레이아웃 수정 기록이라고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캡처 이미지는 겹치지 않게 배치했습니다. 앞 슬라이드에서 이미 사용한 대표 캡처는 이 아카이브에서 제외했고, 각 캡처가 한 번씩만 나오도록 구성했습니다.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슬라이드에서는 보고서가 단순 설명문이 아니라 실험 결과를 재현 가능하게 남긴 아카이브라고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마지막에서는 모든 기능을 다시 요약하지 않습니다. 2개월 동안 만든 핵심은 개별 기능이 아니라 데이터, 모델, 서버, 화면, 배포를 연결한 구조였다고 마무리합니다.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장에서는 프로젝트 기술을 한 번에 정리합니다. Git/GitHub는 코드 버전관리, DagsHub와 MLflow는 데이터/모델 실험 관리, Docker Compose는 로컬 서비스 실행, Playwright는 화면 검증, TorchServe와 Celery는 모델 배포와 긴 작업 분리에 사용했다고 말하면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마지막에서는 모든 기능을 다시 요약하지 않습니다. 2개월 동안 만든 핵심은 개별 기능이 아니라 데이터, 모델, 서버, 화면, 배포를 연결한 구조였다고 마무리합니다.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839436842"/>
      </p:ext>
    </p:extLst>
  </p:cSld>
  <p:clrMapOvr>
    <a:masterClrMapping/>
  </p:clrMapOvr>
</p:notes>
</file>

<file path=ppt/notesSlides/notesSlide5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동기는 세 가지로 말합니다. 첫째 기존 K-Ride는 경로와 추천 중심이었고, 둘째 사용자는 왜 이 장소가 추천되는지 알고 싶어하며, 셋째 생성형 AI를 붙이려면 모델을 호출하는 화면이 아니라 데이터와 비동기 운영 구조가 필요했습니다.</a:t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462778846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e816b0b08c734f5a" Type="http://schemas.openxmlformats.org/officeDocument/2006/relationships/slideMaster" Target="../slideMasters/slideMaster1.xml" 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 standalone="yes" ?><Relationships xmlns="http://schemas.openxmlformats.org/package/2006/relationships"><Relationship Id="R840021a84baf4d16" Type="http://schemas.openxmlformats.org/officeDocument/2006/relationships/theme" Target="../theme/theme1.xml"  /><Relationship Id="Rfa19b931c53f4ef6" Type="http://schemas.openxmlformats.org/officeDocument/2006/relationships/slideLayout" Target="../slideLayouts/slideLayout1.xml" 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19b931c53f4e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.xml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2" Type="http://schemas.openxmlformats.org/officeDocument/2006/relationships/slideLayout" Target="../slideLayouts/slideLayout1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7.xml"  /><Relationship Id="rId2" Type="http://schemas.openxmlformats.org/officeDocument/2006/relationships/slideLayout" Target="../slideLayouts/slideLayout1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9.xml"  /><Relationship Id="rId2" Type="http://schemas.openxmlformats.org/officeDocument/2006/relationships/slideLayout" Target="../slideLayouts/slideLayout1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0.xml"  /><Relationship Id="rId2" Type="http://schemas.openxmlformats.org/officeDocument/2006/relationships/slideLayout" Target="../slideLayouts/slideLayout1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1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2" Type="http://schemas.openxmlformats.org/officeDocument/2006/relationships/slideLayout" Target="../slideLayouts/slideLayout1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1.xml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4.xml"  /><Relationship Id="rId2" Type="http://schemas.openxmlformats.org/officeDocument/2006/relationships/slideLayout" Target="../slideLayouts/slideLayout1.xml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2" Type="http://schemas.openxmlformats.org/officeDocument/2006/relationships/slideLayout" Target="../slideLayouts/slideLayout1.xml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6.xml"  /><Relationship Id="rId2" Type="http://schemas.openxmlformats.org/officeDocument/2006/relationships/slideLayout" Target="../slideLayouts/slideLayout1.xml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2" Type="http://schemas.openxmlformats.org/officeDocument/2006/relationships/slideLayout" Target="../slideLayouts/slideLayout1.xml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2" Type="http://schemas.openxmlformats.org/officeDocument/2006/relationships/slideLayout" Target="../slideLayouts/slideLayout1.xml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2" Type="http://schemas.openxmlformats.org/officeDocument/2006/relationships/slideLayout" Target="../slideLayouts/slideLayout1.xml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0.xml"  /><Relationship Id="rId2" Type="http://schemas.openxmlformats.org/officeDocument/2006/relationships/slideLayout" Target="../slideLayouts/slideLayout1.xml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2" Type="http://schemas.openxmlformats.org/officeDocument/2006/relationships/slideLayout" Target="../slideLayouts/slideLayout1.xml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2.xml"  /><Relationship Id="rId2" Type="http://schemas.openxmlformats.org/officeDocument/2006/relationships/slideLayout" Target="../slideLayouts/slideLayout1.xml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3.xml"  /><Relationship Id="rId2" Type="http://schemas.openxmlformats.org/officeDocument/2006/relationships/slideLayout" Target="../slideLayouts/slideLayout1.xml"  /></Relationships>
</file>

<file path=ppt/slides/_rels/slide3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4.xml"  /><Relationship Id="rId2" Type="http://schemas.openxmlformats.org/officeDocument/2006/relationships/slideLayout" Target="../slideLayouts/slideLayout1.xml"  /></Relationships>
</file>

<file path=ppt/slides/_rels/slide3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5.xml"  /><Relationship Id="rId2" Type="http://schemas.openxmlformats.org/officeDocument/2006/relationships/slideLayout" Target="../slideLayouts/slideLayout1.xml"  /></Relationships>
</file>

<file path=ppt/slides/_rels/slide3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6.xml"  /><Relationship Id="rId2" Type="http://schemas.openxmlformats.org/officeDocument/2006/relationships/slideLayout" Target="../slideLayouts/slideLayout1.xml"  /></Relationships>
</file>

<file path=ppt/slides/_rels/slide3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7.xml"  /><Relationship Id="rId2" Type="http://schemas.openxmlformats.org/officeDocument/2006/relationships/slideLayout" Target="../slideLayouts/slideLayout1.xml"  /></Relationships>
</file>

<file path=ppt/slides/_rels/slide3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8.xml"  /><Relationship Id="rId2" Type="http://schemas.openxmlformats.org/officeDocument/2006/relationships/slideLayout" Target="../slideLayouts/slideLayout1.xml"  /></Relationships>
</file>

<file path=ppt/slides/_rels/slide3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9.xml"  /><Relationship Id="rId2" Type="http://schemas.openxmlformats.org/officeDocument/2006/relationships/slideLayout" Target="../slideLayouts/slideLayout1.xml"  /></Relationships>
</file>

<file path=ppt/slides/_rels/slide4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0.xml"  /><Relationship Id="rId2" Type="http://schemas.openxmlformats.org/officeDocument/2006/relationships/slideLayout" Target="../slideLayouts/slideLayout1.xml"  /></Relationships>
</file>

<file path=ppt/slides/_rels/slide4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1.xml"  /><Relationship Id="rId2" Type="http://schemas.openxmlformats.org/officeDocument/2006/relationships/slideLayout" Target="../slideLayouts/slideLayout1.xml"  /></Relationships>
</file>

<file path=ppt/slides/_rels/slide4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2.xml"  /><Relationship Id="rId2" Type="http://schemas.openxmlformats.org/officeDocument/2006/relationships/slideLayout" Target="../slideLayouts/slideLayout1.xml"  /></Relationships>
</file>

<file path=ppt/slides/_rels/slide4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3.xml"  /><Relationship Id="rId2" Type="http://schemas.openxmlformats.org/officeDocument/2006/relationships/slideLayout" Target="../slideLayouts/slideLayout1.xml"  /></Relationships>
</file>

<file path=ppt/slides/_rels/slide4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4.xml"  /><Relationship Id="rId2" Type="http://schemas.openxmlformats.org/officeDocument/2006/relationships/slideLayout" Target="../slideLayouts/slideLayout1.xml"  /></Relationships>
</file>

<file path=ppt/slides/_rels/slide4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5.xml"  /><Relationship Id="rId2" Type="http://schemas.openxmlformats.org/officeDocument/2006/relationships/slideLayout" Target="../slideLayouts/slideLayout1.xml"  /></Relationships>
</file>

<file path=ppt/slides/_rels/slide4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6.xml"  /><Relationship Id="rId2" Type="http://schemas.openxmlformats.org/officeDocument/2006/relationships/slideLayout" Target="../slideLayouts/slideLayout1.xml"  /></Relationships>
</file>

<file path=ppt/slides/_rels/slide4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7.xml"  /><Relationship Id="rId2" Type="http://schemas.openxmlformats.org/officeDocument/2006/relationships/slideLayout" Target="../slideLayouts/slideLayout1.xml"  /></Relationships>
</file>

<file path=ppt/slides/_rels/slide4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8.xml"  /><Relationship Id="rId2" Type="http://schemas.openxmlformats.org/officeDocument/2006/relationships/slideLayout" Target="../slideLayouts/slideLayout1.xml"  /></Relationships>
</file>

<file path=ppt/slides/_rels/slide4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9.xml"  /><Relationship Id="rId2" Type="http://schemas.openxmlformats.org/officeDocument/2006/relationships/slideLayout" Target="../slideLayouts/slideLayout1.xml"  /></Relationships>
</file>

<file path=ppt/slides/_rels/slide5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0.xml"  /><Relationship Id="rId2" Type="http://schemas.openxmlformats.org/officeDocument/2006/relationships/slideLayout" Target="../slideLayouts/slideLayout1.xml"  /></Relationships>
</file>

<file path=ppt/slides/_rels/slide5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1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8EEF66-083A-4711-9BBF-CC7CABC2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ADBDA-B6E7-4867-8C76-5F7B1337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3E33D-BE54-4C65-B1D1-2B3EA540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7F9D7-4842-40C9-8F5D-E617CEA9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03775-FC8F-4390-A373-A12D3453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B4409-6B36-41F4-A765-BA97BEA6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AC56B-7F62-4BE1-A1F2-35126578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K-Ride 2.0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4BC0F-ABB8-4446-BFD2-6036A7E9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GraphRAG 추천 엔진을 AI 여행로그 생성 플랫폼으로 확장한 2개월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E6943-FBE7-4710-84CA-B9A4A678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K-Ride 2.0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348DB-C9A2-4CF5-8BFA-44E5F097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5F5F1"/>
                </a:solidFill>
                <a:latin typeface="Aptos"/>
                <a:ea typeface="Aptos"/>
                <a:cs typeface="Aptos"/>
              </a:rPr>
              <a:t>GraphRAG 추천 엔진 + AI 여행로그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4C0D5-7E9C-46D4-9816-91E93A9F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686A4-2188-433E-B442-ACD6669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14875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2 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3315F-FA83-4B45-9B4A-9FF7ED73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build archive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3C008-6EC1-437E-8809-2F56556E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910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43CDE-BAE3-451E-BDE8-0DA3D012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14875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AA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AA7FF"/>
                </a:solidFill>
                <a:latin typeface="Aptos"/>
                <a:ea typeface="Aptos"/>
                <a:cs typeface="Aptos"/>
              </a:rPr>
              <a:t>6+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CFEA6-A81F-4E00-A987-C92AA66F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863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model tracks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D1C456-E240-4817-8A1A-5371128A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910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C39E65-000E-40BD-B051-A51DC8BC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14875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C99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C997"/>
                </a:solidFill>
                <a:latin typeface="Aptos"/>
                <a:ea typeface="Aptos"/>
                <a:cs typeface="Aptos"/>
              </a:rPr>
              <a:t>82 → 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E86942-6443-4EA2-BBE6-8126BB2C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86350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deduped 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41DB1E-9180-4A11-8D0B-0E81A1E2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123950"/>
            <a:ext cx="238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E2E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07959F-33ED-4BF8-88D4-66927A52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81E34-C1F9-42A8-9CCB-FE53679D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4668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406610-25CE-4E34-A4F9-30166F6B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383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GraphRAG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7C701-B402-4272-84EA-ED14CB26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81200"/>
            <a:ext cx="14478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F35177-8DB9-43E8-B461-D4C16F34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526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39394-B1E3-4C97-93C1-FD8720D1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526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F95D34-A67C-4BEA-B5B9-64743E7B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SDUI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FA420-0C37-4E66-B046-300791C6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67000"/>
            <a:ext cx="14478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6BADAA-41BC-4A2C-9C88-5B5E5D35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663C53-212B-4742-9AE2-C8537447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DC1CD4-84C0-40B7-B662-977BCA20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99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TorchServe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9CCAC7-9B98-4781-9EB9-8E82FB78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52800"/>
            <a:ext cx="14478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81AAED-DF45-43AD-823B-7DFEBFF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189BD7-8DD4-4854-AE9C-CD7FB473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1622D1-FE15-42A0-BC34-DF799066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957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Celery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6954C6-D14A-417D-958B-EA445EE4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38600"/>
            <a:ext cx="14478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7E16E6-4B52-43CA-915C-D64679DC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100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96B971-F39D-47DA-B85B-0D0B6E88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100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1F944D-86E8-4827-B00E-81BE3BCA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8150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Media AI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286B2C-3375-4D60-952C-6BA924F2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24400"/>
            <a:ext cx="1447800" cy="-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057295163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b207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/>
          <p:cNvSpPr>
            <a:spLocks noGrp="1"/>
          </p:cNvSpPr>
          <p:nvPr/>
        </p:nvSpPr>
        <p:spPr>
          <a:xfrm>
            <a:off x="514350" y="419100"/>
            <a:ext cx="95250" cy="952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/>
          <p:cNvSpPr>
            <a:spLocks noGrp="1"/>
          </p:cNvSpPr>
          <p:nvPr/>
        </p:nvSpPr>
        <p:spPr>
          <a:xfrm>
            <a:off x="7048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SYMBOL BOARD 1</a:t>
            </a:r>
            <a:endParaRPr sz="975" b="1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11049000" y="3429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49</a:t>
            </a:r>
            <a:endParaRPr sz="975" b="1">
              <a:solidFill>
                <a:srgbClr val="6868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514350" y="74295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기술 스택 대표 심볼을 한 장으로 모았습니다.</a:t>
            </a:r>
            <a:endParaRPr sz="3225" b="1">
              <a:solidFill>
                <a:srgbClr val="f5f5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533400" y="16573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Frontend, backend, database, runtime stack</a:t>
            </a:r>
            <a:endParaRPr sz="1350" b="0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70807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b207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/>
          <p:cNvSpPr>
            <a:spLocks noGrp="1"/>
          </p:cNvSpPr>
          <p:nvPr/>
        </p:nvSpPr>
        <p:spPr>
          <a:xfrm>
            <a:off x="514350" y="419100"/>
            <a:ext cx="95250" cy="952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/>
          <p:cNvSpPr>
            <a:spLocks noGrp="1"/>
          </p:cNvSpPr>
          <p:nvPr/>
        </p:nvSpPr>
        <p:spPr>
          <a:xfrm>
            <a:off x="7048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SYMBOL BOARD 2</a:t>
            </a:r>
            <a:endParaRPr sz="975" b="1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11049000" y="3429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50</a:t>
            </a:r>
            <a:endParaRPr sz="975" b="1">
              <a:solidFill>
                <a:srgbClr val="6868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514350" y="74295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AI 모델링과 MLOps 도구도 대표 심볼로 정리했습니다.</a:t>
            </a:r>
            <a:endParaRPr sz="3225" b="1">
              <a:solidFill>
                <a:srgbClr val="f5f5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533400" y="16573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AI modeling, serving, tracking, collaboration, media assembly</a:t>
            </a:r>
            <a:endParaRPr sz="1350" b="0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15906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b207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/>
          <p:cNvSpPr>
            <a:spLocks noGrp="1"/>
          </p:cNvSpPr>
          <p:nvPr/>
        </p:nvSpPr>
        <p:spPr>
          <a:xfrm>
            <a:off x="514350" y="419100"/>
            <a:ext cx="95250" cy="952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/>
          <p:cNvSpPr>
            <a:spLocks noGrp="1"/>
          </p:cNvSpPr>
          <p:nvPr/>
        </p:nvSpPr>
        <p:spPr>
          <a:xfrm>
            <a:off x="7048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MOTIVATION</a:t>
            </a:r>
            <a:endParaRPr sz="975" b="1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11049000" y="3429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02</a:t>
            </a:r>
            <a:endParaRPr sz="975" b="1">
              <a:solidFill>
                <a:srgbClr val="6868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514350" y="74295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출발점은 기능 추가가 아니라, 여행 경험을 설명 가능한 AI 흐름으로 바꾸는 일이었습니다.</a:t>
            </a:r>
            <a:endParaRPr sz="2550" b="1">
              <a:solidFill>
                <a:srgbClr val="f5f5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533400" y="16573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추천 이유, 안전성, 날씨, 미디어 생성까지 하나의 사용자 여정으로 연결</a:t>
            </a:r>
            <a:endParaRPr sz="1350" b="0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781050" y="2762250"/>
            <a:ext cx="9525000" cy="904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34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추천 → 설명 → 생성 → 검증</a:t>
            </a:r>
            <a:endParaRPr sz="3450" b="1">
              <a:solidFill>
                <a:srgbClr val="e5091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819150" y="3848100"/>
            <a:ext cx="80962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725" b="0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5f5f1"/>
                </a:solidFill>
                <a:latin typeface="Aptos"/>
                <a:ea typeface="Aptos"/>
                <a:cs typeface="Aptos"/>
              </a:rPr>
              <a:t>이 흐름이 이번 발표의 한 줄 요약입니다.</a:t>
            </a:r>
            <a:endParaRPr sz="1725" b="0">
              <a:solidFill>
                <a:srgbClr val="f5f5f1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80503804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63935B-55DD-466E-984F-33F124E5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C250B-718E-458A-9229-63374432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B8AD2-980D-4859-A029-5CDB7297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1FA0B-EA40-480E-AFA5-A4BE4507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2CCC6-CBDE-4326-BAEB-F3507E58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TWO-MONTH 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CD2A6-EF2F-48C1-8D11-E5081DD5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85CD7-B07F-4727-84BF-B9D6DB50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2개월의 작업은 네 개의 레이어로 쌓였습니다.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F39F9-AD4B-4C26-895F-1415116B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데이터 수집 → 추천/모델링 → 서버/서빙 → 화면/검증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96288-2A68-4BE6-9E63-EA4EDE9A2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2D14EE-3772-4B3E-8D43-B09EA594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F1CA7-383D-4126-8AA2-54AE53EC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B3B01-F82B-4DE1-9B76-A565422A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POI, 날씨, 안전, 소비, K-culture 데이터 정리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E9942-8BF9-4EA5-AE8E-FB632E2D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4099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66699-C378-458B-91FB-1A3FAF28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14625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F0AF68-CF19-4307-977D-5BAEB3C5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14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33832B-3967-4B6A-BEC6-6F0E317E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860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8D311-E370-4CE5-A2AF-CCBA478D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2897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WeatherLSTM, TabNet, RandomForest, GraphRAG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CC8E3-91F7-4CB8-BA45-86A2D47C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099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12E1FD-79A7-46BE-8FB0-BBF3C740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603750-1407-4BC8-906B-CE279DF3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14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37E21-A341-49FA-A31D-ED58D418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860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Serving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915537-1CF1-4D6E-8667-5AF0310C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2897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Spring, FastAPI, TorchServe, Celery, MLflow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6ED878-7BC8-4168-804F-6C5EE046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099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4AC35F-7B90-4E41-912E-329334B2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14625"/>
            <a:ext cx="2552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5EE932-4BEF-46B4-B5FB-495263A8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14625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E285DE-93DA-4934-8320-E896371D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860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Screen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6C137E-63B0-4FF3-97CC-5704F964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28975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SDUI, 커뮤니티 이미지 업로드, 캡처 검증</a:t>
            </a:r>
          </a:p>
        </p:txBody>
      </p:sp>
    </p:spTree>
    <p:extLst>
      <p:ext uri="{BB962C8B-B14F-4D97-AF65-F5344CB8AC3E}">
        <p14:creationId xmlns:p14="http://schemas.microsoft.com/office/powerpoint/2010/main" val="1069393324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0415B4-BCFA-47C8-925A-2AB664F3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1CE49-47D0-4AF6-82A9-2397A4B9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4BD04D-DAD8-494F-8BFB-DD3C4346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76A13-731E-43AC-A93A-6D031DFA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01050-1465-4734-91C3-03D71F91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AGENT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BD250-87CA-43BD-ADA4-F4AC9D27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67127-87EF-467C-8262-25F55A16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에이전트는 문서화와 코드 변경을 연결하는 작업 파트너로 사용했습니다.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35C67-B593-4DE8-8133-B2E1D94A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설계 정리, 코드 탐색, 테스트, 캡처, 발표자료 작성까지 반복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0FC1E-0981-418B-AC01-1623229A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C70A1-DF0B-4F44-9227-F8E70F05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55647-43D4-4473-80BF-BE3C3ED4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탐색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FDFC89-E642-4E69-ACFF-D9D63130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report, dataset_report, torchserve, SDUI 코드를 읽고 근거를 찾음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8297F-0C50-47A2-A71A-E9752633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3AD28-28CC-476E-A4FF-EFE6AE14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FCE91-9820-43CE-B147-5F85DB58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구현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D009A-86D3-4DBD-9621-B1B6B587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커뮤니티 CRUD에 이미지 업로드와 read 표시 흐름을 추가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181C2-BE9D-4B5E-B9A8-A9607A3F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853FB4-D77F-413F-AD56-40B120D7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E6ED99-2C7B-4CEF-B54B-4EC8375B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검증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AD230-131B-43A9-92AA-731CD8C5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로컬 서버와 프론트를 실행하고 Playwright 캡처로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A39986-1F25-41AF-9334-A7E2D105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320B1-E457-4885-86A4-252DC1A9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F7EFA8-8C52-40CD-948C-2A5E03D7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정리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0ACEC-D946-43C0-B8F9-A61A1A1C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모델링 산출물과 트러블슈팅을 발표 구조로 재배치</a:t>
            </a:r>
          </a:p>
        </p:txBody>
      </p:sp>
    </p:spTree>
    <p:extLst>
      <p:ext uri="{BB962C8B-B14F-4D97-AF65-F5344CB8AC3E}">
        <p14:creationId xmlns:p14="http://schemas.microsoft.com/office/powerpoint/2010/main" val="1307137987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C9C232-4DA5-46E9-AA43-02CEF6D4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3F7F9-B4FB-4219-884D-96A28B16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29A0C-16ED-4453-8CA3-F7BA23D8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BFBB9-4FE6-408A-8BA7-E8B218E7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DDFA2-7C10-40E6-B899-E0457769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CHAPTER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904E8-ACDD-4A3F-B493-43F778E2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D57FB-63A4-4BA8-9B79-C2EB99C7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Data / DB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228A2-35A1-4045-ABA6-BF65A0C5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추천 품질은 모델보다 먼저 데이터 구조에서 결정됐습니다.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77405-A1D7-4068-98B4-094A498D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04775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63887-5074-444F-8093-15C4DA92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추천 품질은 모델보다 먼저 데이터 구조에서 결정됐습니다.</a:t>
            </a:r>
          </a:p>
        </p:txBody>
      </p:sp>
    </p:spTree>
    <p:extLst>
      <p:ext uri="{BB962C8B-B14F-4D97-AF65-F5344CB8AC3E}">
        <p14:creationId xmlns:p14="http://schemas.microsoft.com/office/powerpoint/2010/main" val="1768150069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6C7A3C-5809-4CB2-8AE5-BB6735DA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269FAF-A0DC-42DA-A585-0C4DE1E2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58DFA-2248-41C5-8F44-EE070453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A8180-C5CA-496E-8563-61955F9E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F1756-61F2-42A5-9A8D-B7C8C9C4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5B752-755B-4D9E-84D2-7DFF1934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1FBEB-3CEA-42B7-BA71-0FB56E5B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핵심 데이터는 POI, 도로, 날씨, 소비, K-culture로 나뉘었습니다.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7EB96-6E37-4057-864C-AF1FECE8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서로 다른 출처를 추천과 생성 파이프라인의 입력으로 맞춤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EA7274-C9DE-414F-BA51-4FC0B9CE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EB702-3F8F-4A8B-9813-7A914154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874K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8F416-5CEB-4679-B96B-407BBC57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POI 후보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0D2D60-19F6-4EC4-A299-342134B4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E57DA-D8E6-4B00-BF23-D15BB4B4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AA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AA7FF"/>
                </a:solidFill>
                <a:latin typeface="Aptos"/>
                <a:ea typeface="Aptos"/>
                <a:cs typeface="Aptos"/>
              </a:rPr>
              <a:t>25,893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24925-49BE-4A9C-AF92-A3C362F1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소비 예측 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B6497-B6C8-419B-BE98-503DC76E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6CCC1-DBFD-41A2-B8CF-FE0210D6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C99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C997"/>
                </a:solidFill>
                <a:latin typeface="Aptos"/>
                <a:ea typeface="Aptos"/>
                <a:cs typeface="Aptos"/>
              </a:rPr>
              <a:t>20,262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7CE62D-0AE8-44BB-8E9F-ED3ECA7E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자전거 도로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C686D-607F-4106-9BF2-93E1ED57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656F9A-D246-4E51-807D-24762204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14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AA504-B786-4040-AEB2-E10BEFAE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Weather 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C6448-B05A-4F8F-ADE4-B27B3867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4953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717f0928a49dd"/>
          <a:stretch xmlns:a="http://schemas.openxmlformats.org/drawingml/2006/main"/>
        </p:blipFill>
        <p:spPr>
          <a:xfrm xmlns:a="http://schemas.openxmlformats.org/drawingml/2006/main">
            <a:off x="6248400" y="2638425"/>
            <a:ext cx="4800600" cy="24003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73A060-8414-4341-951F-D2A287C9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054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983553-9950-43AE-BE3B-83C9646E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report/dataset_report</a:t>
            </a:r>
          </a:p>
        </p:txBody>
      </p:sp>
    </p:spTree>
    <p:extLst>
      <p:ext uri="{BB962C8B-B14F-4D97-AF65-F5344CB8AC3E}">
        <p14:creationId xmlns:p14="http://schemas.microsoft.com/office/powerpoint/2010/main" val="175541853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28CD8A-9972-45CB-8C2F-BC6E28B6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0E321-A558-4087-8CC8-B588CC5C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D33DC-8749-4412-A9B2-616D72FE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70B34A-5A70-4685-A5C5-54047C27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E9F82-0CF3-4C4A-AB48-C83503CB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INGESTION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BE680-8CB8-42AD-A293-98EDA8C7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41426-ABDA-4D26-B4CD-E7FFFB86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적재 흐름은 파일 수집보다 모델 입력 형태로 바꾸는 과정이었습니다.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14F7D-5754-4FE8-BB35-6DA9FDC1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정제된 테이블과 벡터, 그래프, 모델 피처가 각각 다른 저장소로 이동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865A7-F8A9-4207-A382-41A9550F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0265B-A4DD-4A01-86BA-D91D932D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39023-19D4-4F08-B46F-D58A7F1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Raw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8A0054-8CAD-41A7-880A-302DE6BD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공공데이터, AI Hub, TourAPI, 캡처/문서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548DF-60E2-4D6C-B390-0A5AB002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40C1D5-AA3F-439F-BB46-70CCDCA1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FE8EB-0DCA-419C-905E-6D1CB935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F35A83-B7DA-4AE7-90CC-F0B1A5DD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Clean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2BE9E-F777-4832-980E-20320175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결측치, 좌표, 범주형, 시간 순서 정리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69B5E9-5F08-482A-8172-2622D204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61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9C7D6-4B76-41A4-B231-5AB0003B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AFDE59-913D-45A6-9A5B-1358FC2A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DB5E4-2581-45C7-8FFF-554A7B96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F641D2-3A3C-4E12-ACFB-C305589F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safety, tourism, weather, consume 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5BF33-8555-43F8-BF59-CF216114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8D75F-202F-4612-8B44-B620AE59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537E0-E5EE-44C0-8C4C-27D39F67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95CDC1-BD7B-47E5-801B-804BBE717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Store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85D79E-3EE4-4DDA-B1DC-D97E5A85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PostgreSQL, ChromaDB, Neo4j, file assets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E54D3C-05B9-4221-9B19-0BA9853B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45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EE73ED-93C0-43C7-8AC1-D1B3552C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829152-FAE2-4311-82BD-16361F5C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AE8A68-3EB8-481D-9C99-F8A6F313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Serve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3E9244-391F-4FDF-A1E9-23EEF783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Spring/FastAPI/TorchServe API</a:t>
            </a:r>
          </a:p>
        </p:txBody>
      </p:sp>
    </p:spTree>
    <p:extLst>
      <p:ext uri="{BB962C8B-B14F-4D97-AF65-F5344CB8AC3E}">
        <p14:creationId xmlns:p14="http://schemas.microsoft.com/office/powerpoint/2010/main" val="1269768784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738A76-8341-4BCC-8E4F-35A14FDE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D61A4-D66F-458B-A72B-8DA04B23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A2255-782E-462E-88DB-DE7A5C79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A7D9E-DBC4-4914-A14A-CCEBF299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8D3B3-CF0D-4768-8975-EBD0CFA0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DB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15986-AF0C-4DC1-BCE6-0F631E9B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08693-8F2D-4287-96FC-71829711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DB는 하나가 아니라, 질문의 종류에 따라 나눠 썼습니다.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133B0-41E8-4E16-847E-B2B65320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관계형, 벡터, 그래프, 산출물 저장소의 역할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3E9DA-18C2-4F16-8D87-31DAF70D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5DEA7-3705-462F-B001-9F7E7C28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95CCC-080F-4AE6-AAEA-3422EA9C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75F6C-E822-4E64-A559-B65DB1B6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회원, 콘텐츠, POI, 추천 결과 등 운영 데이터의 기준점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3C9E2D-07EA-4543-A03D-DAAF46B0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B5752-D436-4A77-B8AB-7FE1ACF5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513E1-470F-429F-B8BB-9F0367D2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ChromaDB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BBFB1-1337-48E7-AB37-B72310AC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문장과 POI를 벡터로 검색하는 RAG 검색 계층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B92C9E-359E-448A-BE58-69531F75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B312A-1B4A-4FF3-9FF5-D8A28618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E71B70-621C-42D2-B74A-B4C18243D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Neo4j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A53BA2-9C5E-43F0-AA05-151234BC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K-culture, 지역, 취향 관계를 그래프로 확장하는 후보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CC45E1-F770-4BA9-9EAD-2CEC1224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2D508D-BD40-4202-89BB-A06479BB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5A7D1D-F0C5-4C3B-AE7E-10788796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File/R2/S3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AAE659-9C6B-48FC-9047-7D1D3143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이미지, 영상, 모델 산출물을 API와 분리해 보관</a:t>
            </a:r>
          </a:p>
        </p:txBody>
      </p:sp>
    </p:spTree>
    <p:extLst>
      <p:ext uri="{BB962C8B-B14F-4D97-AF65-F5344CB8AC3E}">
        <p14:creationId xmlns:p14="http://schemas.microsoft.com/office/powerpoint/2010/main" val="1801863764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8B71B6-C8EA-4E72-B55D-EE695393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5A819-6AEC-4FCD-AC6B-2152D0C9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5E4F9-9392-424A-94AE-9160DA1A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0D0BF-3D67-41AB-975C-50538809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BD79F-C471-457E-8942-571CFB0A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RAG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AEF7F-2606-4A27-8F68-4B21150F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19CB6-D625-430A-9359-19AAB467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추천은 GraphRAG와 K-culture 데이터로 설명 가능성을 붙였습니다.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064D90-E39A-4933-9CF8-686BAAA3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장소 추천 결과뿐 아니라 왜 추천됐는지를 함께 돌려주는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F6194-0DDC-4859-BCED-2D6E5FAF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45dce8686e48e6"/>
          <a:stretch xmlns:a="http://schemas.openxmlformats.org/drawingml/2006/main"/>
        </p:blipFill>
        <p:spPr>
          <a:xfrm xmlns:a="http://schemas.openxmlformats.org/drawingml/2006/main">
            <a:off x="723900" y="2647950"/>
            <a:ext cx="4991100" cy="2495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D4F38-78FB-4C8A-B6D9-44B4ED17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K-culture 지역 분포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DC6121-4D4D-41DF-9F2C-86BF6111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1fc19785f4ba7"/>
          <a:stretch xmlns:a="http://schemas.openxmlformats.org/drawingml/2006/main"/>
        </p:blipFill>
        <p:spPr>
          <a:xfrm xmlns:a="http://schemas.openxmlformats.org/drawingml/2006/main">
            <a:off x="7100106" y="2400300"/>
            <a:ext cx="3744888" cy="2990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81BB9-0086-43A8-96EB-92B5DF04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435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POI co-occurrence heatmap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81E2C-8859-4B75-803A-14C28270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dataset_report/figures</a:t>
            </a:r>
          </a:p>
        </p:txBody>
      </p:sp>
    </p:spTree>
    <p:extLst>
      <p:ext uri="{BB962C8B-B14F-4D97-AF65-F5344CB8AC3E}">
        <p14:creationId xmlns:p14="http://schemas.microsoft.com/office/powerpoint/2010/main" val="2138407358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F55907-F1B6-406C-ABC9-3756478E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786F7-7329-4E91-8CA1-23CA09B7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C9DF2-5E63-4BAD-B5D2-E7E57646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BD7B5-FB39-4A2D-8BBD-4129E4C7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EBFCC4-81D2-4125-8625-ADAFAC2A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CHAPTER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6D9F2-5C09-446A-887D-76425A84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4BA1E-4863-4057-8699-7A2B32FE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1DEBE-303B-49C2-9AC7-005E1591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화면, 서버, 모델 서빙을 분리해야 AI 기능을 운영할 수 있었습니다.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B3F78-97EC-4630-BD6F-1661AA74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04775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B029B-5200-4AAB-B67D-C738FAA5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화면, 서버, 모델 서빙을 분리해야 AI 기능을 운영할 수 있었습니다.</a:t>
            </a:r>
          </a:p>
        </p:txBody>
      </p:sp>
    </p:spTree>
    <p:extLst>
      <p:ext uri="{BB962C8B-B14F-4D97-AF65-F5344CB8AC3E}">
        <p14:creationId xmlns:p14="http://schemas.microsoft.com/office/powerpoint/2010/main" val="1197562278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6A28DA-CDED-48F0-86C1-3B86C56A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B72C9-3068-40FA-8A26-B352EFD9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53075-AE5E-4718-80A0-6C0887C3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49F80-BFFB-4650-B7E4-02358FC0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F4863-1E0C-461A-BF8E-3529233D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K-RIDE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7B8CC-554E-4F52-B085-8E012B10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E9729-E8AE-4D90-9461-3092EBBD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K-Ride는 화면과 모델을 직접 붙이지 않고, 서비스 경계를 나눴습니다.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67A14-A2E7-4F1E-9FBB-5D337813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Next/SDUI → Spring Boot → FastAPI/Celery → TorchServe/MLflow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9F3EF3-6CFE-430B-AE0E-35F1566B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AA9BB5-1735-4DBD-9FCF-0F9E1087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183AB-0B58-40DA-B57D-4E0F537C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86ECF-C9BA-442A-9E44-7FEDD557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440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Next.js, SDUI, PWA, community CRUD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818A83-10F1-4CCF-960B-D9DF6A33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E4318-E200-44D2-B503-20CD58E7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D192E1-39C9-402C-BD03-3F862412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B36C0-BEF3-4291-A74B-0F63CEE6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440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Spring Boot, auth, content, DB transaction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D05F3-148C-40F2-8892-A36715DD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851926-BCB6-4A09-B94C-E2BFDEE5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660388-30AC-4264-9529-7EAF3355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AI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C63CF-10F1-4233-937C-DA0D6127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440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FastAPI, GraphRAG, media job orchestration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B9485-1A9B-4B2C-A36A-503205D0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9095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F710BF-E1B9-4E03-A37D-EFE44D56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909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3B4BE6-E731-40F8-ADEA-006A6CCB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Model 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85265-B3C7-4BEA-AEA8-E5D9C792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05300"/>
            <a:ext cx="4400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TorchServe, MLflow, Docker, registry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CC9815-D6CB-4AC8-A6A4-05C471E4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C501F-46D9-4299-8378-041C79B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43400"/>
            <a:ext cx="495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7350944"/>
      </p:ext>
    </p:extLst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16555A-B333-44AE-A2BE-D56A36BA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AEF75-6B45-453C-A124-95975FA2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C5D1C-4905-4549-8C62-BE4A5CA6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145E8-EAA1-439B-9E61-C9779397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BE9E5-CF48-45FD-AFE0-6CA604AF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SDUI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C33C50-14B4-445F-93B6-D3B2639C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8637C-5F06-46E7-A09C-7A8A191C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SDUI는 화면을 코드가 아니라 메타데이터로 바꾸는 역할이었습니다.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D0BB5-224D-4DD3-A880-56003C46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DB 변경이 UI 구조로 이어지는 흐름을 데모 GIF에서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CD4AB-8AE7-443D-8331-BE8EE001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5b8420d204ec5"/>
          <a:stretch xmlns:a="http://schemas.openxmlformats.org/drawingml/2006/main"/>
        </p:blipFill>
        <p:spPr>
          <a:xfrm xmlns:a="http://schemas.openxmlformats.org/drawingml/2006/main">
            <a:off x="723900" y="3039625"/>
            <a:ext cx="4991100" cy="171219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82B5D-2960-42AF-9BAE-72A52AEC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demo-db-to-ui.gif 대표 장면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DE8E6-CD19-4354-9ACE-8A1D750D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a438fc9bf4a0e"/>
          <a:stretch xmlns:a="http://schemas.openxmlformats.org/drawingml/2006/main"/>
        </p:blipFill>
        <p:spPr>
          <a:xfrm xmlns:a="http://schemas.openxmlformats.org/drawingml/2006/main">
            <a:off x="6773125" y="2400300"/>
            <a:ext cx="4398850" cy="2990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CAE567-FA4B-4FED-969D-92819988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435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demo-role-switch.gif 대표 장면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B73C8-DBB6-4277-85B7-E3611725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subproject/SDUI/assets/docs</a:t>
            </a:r>
          </a:p>
        </p:txBody>
      </p:sp>
    </p:spTree>
    <p:extLst>
      <p:ext uri="{BB962C8B-B14F-4D97-AF65-F5344CB8AC3E}">
        <p14:creationId xmlns:p14="http://schemas.microsoft.com/office/powerpoint/2010/main" val="1510149993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2FCF73-8931-4527-B51E-DFA33FAB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5E222-34DE-4890-A097-B1D2068AC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D1C83-5BD3-4D35-AE01-D019C6B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B0DC1-8BB3-4D15-AA56-9AF8EB49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A5046-9E08-4E76-8A05-845CD980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0112F-9B75-400B-82E5-6498659F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39614-AB3B-4376-8D6A-AFB84E9D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커뮤니티 CRUD에는 이미지 업로드가 붙어 AI 영상 원천 데이터가 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627EA-7855-4083-8438-A8746377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목록, 작성, 상세에서 이미지가 이어지는지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A1C65-EE05-4790-8C7E-B2F5FA9A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2b756aeef4e50"/>
          <a:stretch xmlns:a="http://schemas.openxmlformats.org/drawingml/2006/main"/>
        </p:blipFill>
        <p:spPr>
          <a:xfrm xmlns:a="http://schemas.openxmlformats.org/drawingml/2006/main">
            <a:off x="628650" y="2926556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06597-835E-4596-8970-25C6B717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목록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CD4EFD-3809-4980-8BE0-CCA11F87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060f3541f43e9"/>
          <a:stretch xmlns:a="http://schemas.openxmlformats.org/drawingml/2006/main"/>
        </p:blipFill>
        <p:spPr>
          <a:xfrm xmlns:a="http://schemas.openxmlformats.org/drawingml/2006/main">
            <a:off x="4457700" y="2559219"/>
            <a:ext cx="3276600" cy="2577763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F6E17-4D1D-4F27-9201-DA298F8C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53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작성/미리보기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241EC-3CBD-4D3B-AD10-526D841E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193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f28a57ba94c06"/>
          <a:stretch xmlns:a="http://schemas.openxmlformats.org/drawingml/2006/main"/>
        </p:blipFill>
        <p:spPr>
          <a:xfrm xmlns:a="http://schemas.openxmlformats.org/drawingml/2006/main">
            <a:off x="8286750" y="2784485"/>
            <a:ext cx="3276600" cy="212723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CC5ED-D5DF-4D5C-A0C4-70B56C42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53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상세/read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274019-2C31-4043-8343-846ADDEB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report/capture/community-*.png</a:t>
            </a:r>
          </a:p>
        </p:txBody>
      </p:sp>
    </p:spTree>
    <p:extLst>
      <p:ext uri="{BB962C8B-B14F-4D97-AF65-F5344CB8AC3E}">
        <p14:creationId xmlns:p14="http://schemas.microsoft.com/office/powerpoint/2010/main" val="1261786253"/>
      </p:ext>
    </p:extLst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62BFEB-75B0-4D5D-8578-F903D307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161F1-1AB0-4F91-AAE2-6DF9FD82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314CB-472E-4A5D-9FBB-BC38376D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60836-A9EA-4C5B-B574-E6BC098D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7C554-C69C-473B-BB8F-BA0856FC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5D887-A889-404D-AF8C-5909D89B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3C1B2-DC82-4272-AC85-C326A767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서버는 CRUD와 AI 작업을 같은 방식으로 처리하지 않도록 나눴습니다.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8223B-2FFE-4CEC-8D96-3FD9D8E7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짧은 요청과 긴 GPU 작업의 운영 방식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50551-180D-4AD1-9EF6-1F75E4A0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49A4A-C182-44BC-9472-1248B07E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9B896C-DC32-4E01-A757-A605EE5F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Spring 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D8156-A831-4781-8FD8-FB42D1CD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회원, 콘텐츠, 커뮤니티 CRUD, DB 트랜잭션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24E1C-CDC1-4545-AA1C-085E3474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571D6-005B-4296-8F47-8136FEA2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563B17-D989-4FB1-BF0C-69E45653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723BED-2771-4349-9D6F-4A64BCEB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GraphRAG, BLIP-2, TTS, 영상 생성 job 접수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77A290-F385-4954-8FF7-5EC90783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16266-4C3A-4D80-AB0A-4FBF123A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D938F-99C6-45D2-A56B-841C9A3C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Celery/Redis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8315AB-608B-48C5-8148-4AFFC727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5~15분 걸리는 영상 생성 작업을 비동기 큐로 분리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7E1C9-2BB8-4905-A102-34098306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7DD597-4B90-4B6F-B672-5501A868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02458B-5F65-4B8D-B838-DA4D3341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380F8F-1512-4306-94A4-E2D4B352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로컬 개발/검증 기준을 서비스 단위로 묶음</a:t>
            </a:r>
          </a:p>
        </p:txBody>
      </p:sp>
    </p:spTree>
    <p:extLst>
      <p:ext uri="{BB962C8B-B14F-4D97-AF65-F5344CB8AC3E}">
        <p14:creationId xmlns:p14="http://schemas.microsoft.com/office/powerpoint/2010/main" val="1160675759"/>
      </p:ext>
    </p:extLst>
  </p:cSld>
  <p:clrMapOvr>
    <a:masterClrMapping/>
  </p:clrMapOvr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67AFC-8E41-4A28-85EE-FADDEF7B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60E7D-1ADD-47C1-92D9-6F75BEDF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62D99-B32C-4C1C-9037-13D8CE46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5270B-219D-4552-8C7C-D37B5E56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D2B0B-BE4F-4397-90DD-BC497A33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MODEL SERVING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8E9DD-2164-4C89-BF06-B82A201B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9C5F5-D5D2-48E2-99C2-676F2C3B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TorchServe는 모델을 API 서버에서 떼어내는 배포 레이어입니다.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D2CDED-028A-4AAC-A661-08279237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handler, MAR package, model store, inference endpoint로 운영 단위를 분리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26B06-577B-4B74-818C-2709BB92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6193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0E78D-7471-44D6-900D-A02AF8FD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3FBDBC-8A4C-447D-AFE4-12993D33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2257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Handler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C3B70F-CA1C-4DE1-AA6F-5407EF6D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257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preprocess, inference, postprocess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7AB373-BEF8-42EB-B7CB-13F68F25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9993B-4E4E-4527-8B38-80D898B6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26193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97D79-281F-4DA6-9651-E9634490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E4357-D2F7-46BA-A324-C52E6874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28950"/>
            <a:ext cx="2257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3B452-1404-4467-9EE2-E6F9E76C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71850"/>
            <a:ext cx="2257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모델 파일과 handler를 패키징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18E698-F9E6-45F3-AFBB-A28873FC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30188-A3B4-4B1C-9753-56C2394B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26193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4853D0-A643-426D-8694-F84A3AC3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285476-5CD9-4AE3-9E6D-F20EFD13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28950"/>
            <a:ext cx="2257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Model Store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05642-504A-4317-8F39-59F19694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2257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embedder, reranker, weather, event NER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54FE0E-596F-4270-B724-444C06F3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61A61B-D81D-4DBC-93E6-22BC17FD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57500"/>
            <a:ext cx="261937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018D70-BE9E-4BE8-BFB7-811D185B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1DB524-6ECB-415C-92BD-C8263EBA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28950"/>
            <a:ext cx="2257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3B8760-81E2-49A0-BD67-FE9AAF7A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371850"/>
            <a:ext cx="22574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FastAPI/Spring에서 추론 호출</a:t>
            </a:r>
          </a:p>
        </p:txBody>
      </p:sp>
    </p:spTree>
    <p:extLst>
      <p:ext uri="{BB962C8B-B14F-4D97-AF65-F5344CB8AC3E}">
        <p14:creationId xmlns:p14="http://schemas.microsoft.com/office/powerpoint/2010/main" val="305629808"/>
      </p:ext>
    </p:extLst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13FA24-8063-4D75-B6FD-1AA3647E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1F5E2-9AFF-480C-BAF1-FC4FB829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F890B-35D9-4C23-9535-1E2055086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C1C8D-43FA-445F-BEE4-C2D2C88D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5C669-8CBD-47E9-8962-AFBA7CBE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92296-9E37-42D0-8050-5FD7303D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23B6E-F9F0-46C0-B68C-9AF328C2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배포 파이프라인은 빌드보다 재현 가능한 실행을 목표로 잡았습니다.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948DD-344A-4F77-86CC-DDBBB426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Docker Compose, MLflow, 모델 패키징, 캡처 검증이 한 흐름으로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C5DC3-43EB-48A2-A7DF-DF4706E3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7F11D-E0CB-4353-AD84-9508443F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97F96-4945-4147-AC57-727AB696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FF652-15C1-4B60-BD15-24673819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docker compose build --no-cache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8FEDB-C439-4AAF-9DC2-219D8F1B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AB10D-843E-4DEF-A68C-304C620F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F5B34-44A5-4108-8B2E-D386CF4F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345DD-5886-4C07-8A4A-E4B99C60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D376C1-6888-4D1D-80AD-C6D259A6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Spring, Next, AI API, DB 실행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BAC8D-83E7-4826-A03D-1B8BC8D3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61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8252EF-1A2D-4659-A7A6-F1767D74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F4C83F-00B1-4C9C-8426-BF1D003C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916D4-148E-4D45-9F25-DD9F7A9A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E12F6-491A-449F-871D-2CFD8BBE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MLflow run과 artifact 기록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39D15F-5287-4684-8D54-2F9F0849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13282D-C3A7-440A-B5DC-8EDB4D91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31E94-6BEE-4BEB-B19B-A389F9B5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B79E5-6993-4DF0-8B93-118A6F90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Serve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D6E4DF-B456-4A0A-A04C-87C1496E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TorchServe endpoint 분리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B51CFC-B1BE-4052-BD5D-4DE4BCB2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45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8B1BAC-6B3C-41F7-8F11-7B3FAB15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75A88C-8FE4-43C6-B9AF-C6873671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88AFF3-EB6F-459C-9278-AB0B6A88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015865-983F-4C27-BF6F-C6885891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Playwright와 화면 캡처 저장</a:t>
            </a:r>
          </a:p>
        </p:txBody>
      </p:sp>
    </p:spTree>
    <p:extLst>
      <p:ext uri="{BB962C8B-B14F-4D97-AF65-F5344CB8AC3E}">
        <p14:creationId xmlns:p14="http://schemas.microsoft.com/office/powerpoint/2010/main" val="361994843"/>
      </p:ext>
    </p:extLst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762CAA-B063-4D37-9C43-2B876D45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39B0B-7065-4F52-A6F5-F56CA52F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7F8A4-74FA-47FF-9193-ED7A473F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5C9A5-A2B0-4983-BBFA-06E9342C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7D323-64D2-4BFD-8207-973EDA00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CHAPTER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9B56B-E052-4727-9A30-65897748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24FDC-51B2-4AAD-BC8C-6C857532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Modeling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10B237-0431-4F62-9BBF-1ABC9858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각 모델은 하나의 점수가 아니라 서비스 의사결정으로 연결됐습니다.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CE3D9-854C-4C44-83AB-B2E6B553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04775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7DA75-BFE3-4DE1-8B0F-6DD1FDC5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각 모델은 하나의 점수가 아니라 서비스 의사결정으로 연결됐습니다.</a:t>
            </a:r>
          </a:p>
        </p:txBody>
      </p:sp>
    </p:spTree>
    <p:extLst>
      <p:ext uri="{BB962C8B-B14F-4D97-AF65-F5344CB8AC3E}">
        <p14:creationId xmlns:p14="http://schemas.microsoft.com/office/powerpoint/2010/main" val="1552742581"/>
      </p:ext>
    </p:extLst>
  </p:cSld>
  <p:clrMapOvr>
    <a:masterClrMapping/>
  </p:clrMapOvr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03BD28-D10A-4FAF-8FC0-88965CB0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D2C5F-A483-4725-9740-8EA1939B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06FB5-7450-4903-BB91-72C0E594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44E6E-A7DE-46DA-A021-E85E2239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28946-134B-491D-952D-5250B2EA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MODEL 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A1166-0656-4BC4-BBDC-AFC62053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C84D1-E94C-4544-B94F-8F5627AA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모델링 산출물은 추천 점수, 설명, 음성, 영상으로 나뉩니다.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5974BD-9DA6-4B43-9ACB-946FA151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각 모델의 출력이 화면과 API에서 쓰이는 방식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FD58DB-C10A-4B0B-8C32-C0FAA45E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B3EC0-1D92-4EC4-91DC-10AE53FE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A0809-874D-4F53-83F6-E362EC8E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WeatherLSTM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25838-CEF6-4868-AE7E-B9CDB216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날씨 3분류 → safety penalty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F83F6-0D75-450D-B24E-041284FA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E7E3B-2479-49E4-BACD-8C08335A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43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F408D-102F-4376-B904-55A6F35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Safety RF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C2935-A437-4C9E-BACB-4A8D15DB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도로 위험도 → 안전 보정 점수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4FDCF-38C9-400D-9A81-836C257C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973CD-FB2B-4E77-BC67-3753024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CFA25-4703-4DF1-8B76-8F7CFADF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POI TabNet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9BA610-9966-49EA-8B59-5CC56D33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방문지 매력도 → tourism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1794B-241E-401F-82F4-926759CF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C1A74-CC80-40FC-A5EA-0997F8A9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8FEB6-C188-4CF7-ACA7-029876EB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Consume TabNet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6BCA7C-0F31-4004-B2A1-3CD15643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예산 현실성 → 비용 조건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8316F5-E87B-42F9-A4AC-CFE65178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16C6D-8350-498B-A879-C8453B5C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0E202-3F23-4588-AD59-9B2E62B7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671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GraphRAG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3E1BEE-6A67-40BA-8F1A-463AF556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005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질의 → 추천 이유/장소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0167CB-D30D-4C8B-8163-88722EB2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95700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582EAD-AA3C-4207-B526-CB42402D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95700"/>
            <a:ext cx="47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714EC5-242B-49AC-A53D-41977F3C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671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Media 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A41D93-A2DF-433A-8FDC-15A3EE44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이미지/텍스트 → TTS/영상</a:t>
            </a:r>
          </a:p>
        </p:txBody>
      </p:sp>
    </p:spTree>
    <p:extLst>
      <p:ext uri="{BB962C8B-B14F-4D97-AF65-F5344CB8AC3E}">
        <p14:creationId xmlns:p14="http://schemas.microsoft.com/office/powerpoint/2010/main" val="1092827151"/>
      </p:ext>
    </p:extLst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384AC7-CB34-4995-B32F-7D701160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CB0A0E-63FC-478C-BCC3-BB2563D4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418D9-276D-423F-8FF9-3C6E4750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88800-EA37-4F88-A0F1-A2E6C225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DEFF3-0B97-4A2F-AE5C-50EA2906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WEATHER LSTM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36F47-63CE-48E2-92CF-57C54DA0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59D13-E114-49A1-BE1D-DE359CD3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WeatherLSTM은 날씨를 안전 점수 보정값으로 바꾸기 위해 만들었습니다.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EA5CF-E4F1-42AE-B4A1-7604AD27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14일 sequence, 8개 feature, 3-class weather label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6293AE-F65F-4101-BDEB-D703FA80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5A58A-F1C0-4B65-BB11-49CD8F95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AA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AA7FF"/>
                </a:solidFill>
                <a:latin typeface="Aptos"/>
                <a:ea typeface="Aptos"/>
                <a:cs typeface="Aptos"/>
              </a:rPr>
              <a:t>82.16%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35748-18CF-4EFB-9822-5E7132A1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test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FD694-61C0-426E-8C3A-742A4824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06ED6-35C9-4D2A-8019-CE013528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C99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C997"/>
                </a:solidFill>
                <a:latin typeface="Aptos"/>
                <a:ea typeface="Aptos"/>
                <a:cs typeface="Aptos"/>
              </a:rPr>
              <a:t>14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1232B-6BF7-49B9-9BA7-F0D2C158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sequence length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4AB7AA-90CE-4624-A7E9-916FEE0D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4B6865-E89C-495F-B705-FA02BA7B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5D5FB8-D136-454E-A796-69879AE9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input features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271E4-3CDB-46AA-A025-F4777C11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4953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9c6afca874a7c"/>
          <a:stretch xmlns:a="http://schemas.openxmlformats.org/drawingml/2006/main"/>
        </p:blipFill>
        <p:spPr>
          <a:xfrm xmlns:a="http://schemas.openxmlformats.org/drawingml/2006/main">
            <a:off x="6248400" y="2539197"/>
            <a:ext cx="4800600" cy="2598756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DDB15-F54C-475F-A857-E3A3DC3E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054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DDD61E-47B5-4403-BF3A-012AEC28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report_step1_weather_lstm.md</a:t>
            </a:r>
          </a:p>
        </p:txBody>
      </p:sp>
    </p:spTree>
    <p:extLst>
      <p:ext uri="{BB962C8B-B14F-4D97-AF65-F5344CB8AC3E}">
        <p14:creationId xmlns:p14="http://schemas.microsoft.com/office/powerpoint/2010/main" val="187868205"/>
      </p:ext>
    </p:extLst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86DC3E-3E18-4651-8D35-6F80DE99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FB7BF-48F6-4F51-8DE5-F45C96CE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DFC4D-DC5E-4181-AB46-DB8C3E32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B8703-284C-4BDE-8FAB-AEF0A0D6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F31F3-3174-4594-951F-F10C8E54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WEATHER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F21A6-22CA-4BE8-9B55-444F008C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CF424-C9F6-4DDA-8F4B-E59226FC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좋았던 지표와 약했던 지표를 함께 기록했습니다.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39B42-F437-41A9-8DD6-60EFE4B9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발표에서는 성능 자랑보다 개선 과제를 드러내는 편이 신뢰를 줍니다.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49F1D-EB97-4BB6-BDC6-F97E6898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a4e4ecdae487c"/>
          <a:stretch xmlns:a="http://schemas.openxmlformats.org/drawingml/2006/main"/>
        </p:blipFill>
        <p:spPr>
          <a:xfrm xmlns:a="http://schemas.openxmlformats.org/drawingml/2006/main">
            <a:off x="723900" y="2816530"/>
            <a:ext cx="4991100" cy="215839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702B2A-92AA-4E50-BED1-3634BD44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Confusion matrix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E7EF3-EC8C-4649-9B93-74E7BBE7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3b583ef424c73"/>
          <a:stretch xmlns:a="http://schemas.openxmlformats.org/drawingml/2006/main"/>
        </p:blipFill>
        <p:spPr>
          <a:xfrm xmlns:a="http://schemas.openxmlformats.org/drawingml/2006/main">
            <a:off x="6477000" y="2523640"/>
            <a:ext cx="4991100" cy="274417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325854-FD23-432D-8D3E-70C2BC07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435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Per-class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51C87A-0A8A-48A3-BEA1-2F04D396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weather_lstm_classification_report.csv</a:t>
            </a:r>
          </a:p>
        </p:txBody>
      </p:sp>
    </p:spTree>
    <p:extLst>
      <p:ext uri="{BB962C8B-B14F-4D97-AF65-F5344CB8AC3E}">
        <p14:creationId xmlns:p14="http://schemas.microsoft.com/office/powerpoint/2010/main" val="1841132622"/>
      </p:ext>
    </p:extLst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3F5511-D43D-4A7C-8FB0-771DF2FC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C9AA8-E625-494B-A8FD-81A72832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4DF45-F504-42CB-AAEE-2F408902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EBF11-58C7-4116-AA87-FEBF5040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82A9F-0AC3-4A07-AE1E-DE21A609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SAFETY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2D888-5EDC-445F-8A2F-515275D3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097DF-DB7E-4919-98BB-2C13262E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Safety 모델은 도로 단위 위험도를 만들기 위한 핵심 보정 모델입니다.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90AE0-0716-4347-8792-968A2B53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도로 속성과 지역 위험도를 결합해 경로 안전 점수로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488D7-CF3B-4012-9D80-7BC4ADC7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1CF8A-8A91-4BC8-BAE6-5F6612E4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C99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C997"/>
                </a:solidFill>
                <a:latin typeface="Aptos"/>
                <a:ea typeface="Aptos"/>
                <a:cs typeface="Aptos"/>
              </a:rPr>
              <a:t>89.1%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EEC40-44DD-46FE-987E-12BD6445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mapping 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0D13B-6D4D-40F7-847D-9F6D36DC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B5063-E9B7-4C36-AE5B-AAC5B067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AA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AA7FF"/>
                </a:solidFill>
                <a:latin typeface="Aptos"/>
                <a:ea typeface="Aptos"/>
                <a:cs typeface="Aptos"/>
              </a:rPr>
              <a:t>0.9987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B129AF-DF7C-4C3C-BE45-E3437A60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classifier acc/F1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31860-BB10-45E4-86E5-A45671FA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ADEC8-E8BE-4CCE-A3E6-5AB4B3B9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RF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74A8D-EE84-42BB-9657-902CB8BE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scikit-learn basis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24FF6-C7D3-4AFA-9C31-B91C20BD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4953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3fbf52b184d84"/>
          <a:stretch xmlns:a="http://schemas.openxmlformats.org/drawingml/2006/main"/>
        </p:blipFill>
        <p:spPr>
          <a:xfrm xmlns:a="http://schemas.openxmlformats.org/drawingml/2006/main">
            <a:off x="6248400" y="2466975"/>
            <a:ext cx="4800600" cy="27432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79D4BA-0773-4953-811D-E3A2EEAF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054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3CBD2-AD1D-441B-8B98-6A27809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safety_performance_summary.json</a:t>
            </a:r>
          </a:p>
        </p:txBody>
      </p:sp>
    </p:spTree>
    <p:extLst>
      <p:ext uri="{BB962C8B-B14F-4D97-AF65-F5344CB8AC3E}">
        <p14:creationId xmlns:p14="http://schemas.microsoft.com/office/powerpoint/2010/main" val="2028922171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AFCA9C-A609-4DAD-94BF-166072C0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60240-073C-49E1-90E3-7570F7C3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DB0B5D-66E8-4A3A-9A5D-FEB9FCCB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026CA-07A6-4DB4-9068-F4F4078C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2189C-D624-40F0-8F0D-00892453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POI TABNET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4BBBE9-0670-42C6-B02B-F8C4DFFE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63065-A271-47F2-915A-2AEC7D42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POI TabNet은 방문지 매력도를 경로 추천 점수로 바꾸는 모델입니다.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C7C87-91FC-4487-89B8-DA8DA122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AI Hub 여행로그에서 추천 의향과 방문지 특징을 학습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98FFD-F35A-41FB-91AC-0A5BD26B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20C74-A20C-44D4-B410-8E62764B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21,384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6A072-D190-4A05-8A9F-6B00F84F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AI Hub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6DD4C-EDDA-44D0-BDC0-D8259384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2317C-3728-49CF-876B-0C31DFDE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AA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AA7F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3BFC7-9FF4-4809-A8B4-78A74C0C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columns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58574-6A27-493E-9557-20931C73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034A9B-0D07-4E55-BEAA-CC4BB45D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C99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C997"/>
                </a:solidFill>
                <a:latin typeface="Aptos"/>
                <a:ea typeface="Aptos"/>
                <a:cs typeface="Aptos"/>
              </a:rPr>
              <a:t>TabNet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98DB2C-1967-40AB-85CC-1848A89D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pytorch-tabnet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9DB28-D407-4AB8-963E-E2C3A341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4953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db90b06f9f4a97"/>
          <a:stretch xmlns:a="http://schemas.openxmlformats.org/drawingml/2006/main"/>
        </p:blipFill>
        <p:spPr>
          <a:xfrm xmlns:a="http://schemas.openxmlformats.org/drawingml/2006/main">
            <a:off x="6248400" y="2482060"/>
            <a:ext cx="4800600" cy="2713029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3F8986-8BD5-4248-A799-A5C9EFF9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054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3CAFD-CE54-4493-A4B7-E7A1302C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report_step2_poi_tabnet.md</a:t>
            </a:r>
          </a:p>
        </p:txBody>
      </p:sp>
    </p:spTree>
    <p:extLst>
      <p:ext uri="{BB962C8B-B14F-4D97-AF65-F5344CB8AC3E}">
        <p14:creationId xmlns:p14="http://schemas.microsoft.com/office/powerpoint/2010/main" val="336264450"/>
      </p:ext>
    </p:extLst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E1C2DC-EC3A-4052-9EAC-79BB2701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C60F4-6A57-49F8-8288-5FAEDF76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134EC-2478-46B1-9328-3F793BDC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81099-9D24-4645-8A35-37947592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7234B-3EE0-478C-AAA1-80F9D87C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POI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8D029-C7E7-40B1-926B-FFC7467E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070A9-2CB8-433E-826E-DF6BA9DD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POI 추천은 공동방문 패턴과 카테고리 보정으로 출발했습니다.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4E89F-CC88-4F3D-8564-3B6424AD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모델 점수와 실제 POI 분포를 함께 보며 추천 편향을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F6FFD-8F99-4652-B9DC-4373F934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0520a88504017"/>
          <a:stretch xmlns:a="http://schemas.openxmlformats.org/drawingml/2006/main"/>
        </p:blipFill>
        <p:spPr>
          <a:xfrm xmlns:a="http://schemas.openxmlformats.org/drawingml/2006/main">
            <a:off x="723900" y="2899570"/>
            <a:ext cx="4991100" cy="199231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F296A-EAC7-457E-8B81-C5674A7E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POI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091A6-8993-4A0E-8D2A-563AB0804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db3bc5d8ba4957"/>
          <a:stretch xmlns:a="http://schemas.openxmlformats.org/drawingml/2006/main"/>
        </p:blipFill>
        <p:spPr>
          <a:xfrm xmlns:a="http://schemas.openxmlformats.org/drawingml/2006/main">
            <a:off x="7100106" y="2400300"/>
            <a:ext cx="3744888" cy="2990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19202-58A5-4E59-B2A0-54361A7F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435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co-occurrence heatmap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D749E-8C11-4282-A686-073934AF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dataset_report/figures</a:t>
            </a:r>
          </a:p>
        </p:txBody>
      </p:sp>
    </p:spTree>
    <p:extLst>
      <p:ext uri="{BB962C8B-B14F-4D97-AF65-F5344CB8AC3E}">
        <p14:creationId xmlns:p14="http://schemas.microsoft.com/office/powerpoint/2010/main" val="1453761395"/>
      </p:ext>
    </p:extLst>
  </p:cSld>
  <p:clrMapOvr>
    <a:masterClrMapping/>
  </p:clrMapOvr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97C720-482D-4731-B324-536E4003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4D7EE-6520-4269-BC81-39C1B2B1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42D40-C535-4196-8F93-AECBF80C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1DB7C3-F6DD-4819-8955-215FE044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7AF36-49DC-4F73-9EC5-2C2A1C68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CONSUME TABNET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FD137-702F-4894-BA1A-2021C6B4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560AF-520C-49F7-B4E2-CE05082E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소비 예측은 추천 결과가 실제 예산 안에 들어오도록 돕습니다.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357BD-CCAB-4D45-863C-92921983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국민여행조사 기반으로 여행 비용 현실성을 보정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E55E8-2491-4DB0-9242-8B781FB5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6BEAC-537A-4735-8EE5-9F3A57F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25,893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C68E8-7022-4B9C-99F1-F2B30071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survey rows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E32D8-08C8-4CE0-9948-D881C3D9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C7C63-091A-43FB-B351-B71434B9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AA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AA7FF"/>
                </a:solidFill>
                <a:latin typeface="Aptos"/>
                <a:ea typeface="Aptos"/>
                <a:cs typeface="Aptos"/>
              </a:rPr>
              <a:t>0.5939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712AB-4136-45A4-BE61-7A2F658F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R2 score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B8690-EFD3-4838-AE35-C050183E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5FD29-D6BC-407A-8731-38CCBD3C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42,764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612975-07FE-40F6-B944-703B2ED5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MAE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46103C-0339-4CA9-8A95-3662CDAC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4953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1d18c2b2143d6"/>
          <a:stretch xmlns:a="http://schemas.openxmlformats.org/drawingml/2006/main"/>
        </p:blipFill>
        <p:spPr>
          <a:xfrm xmlns:a="http://schemas.openxmlformats.org/drawingml/2006/main">
            <a:off x="6248400" y="2638425"/>
            <a:ext cx="4800600" cy="24003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B4FCF-89E6-48B4-9FC4-2375334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054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F5290-30CB-4D48-A62F-81C17E00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consume_v3_summary.md</a:t>
            </a:r>
          </a:p>
        </p:txBody>
      </p:sp>
    </p:spTree>
    <p:extLst>
      <p:ext uri="{BB962C8B-B14F-4D97-AF65-F5344CB8AC3E}">
        <p14:creationId xmlns:p14="http://schemas.microsoft.com/office/powerpoint/2010/main" val="647482824"/>
      </p:ext>
    </p:extLst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8CC5AF-DC5A-4DB9-9650-4463B276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D98AE1-23F6-4F24-92B3-578580C5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79198-3979-4126-8A05-1993CADC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46455-C004-49FE-9036-48FE7EB1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40498-6678-41FA-B873-B45F8132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CONSUME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F64C2-B93F-4648-87FE-10C1016B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0362D-F092-4C87-9EB7-4F9651B4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소비 모델도 분포, 중요도, 지역별 오차를 산출물로 남겼습니다.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09ABD-4FAB-4B25-B78B-D904D644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점수 하나가 아니라 설명 가능한 비용 보정 자료로 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50E2E1-D3AE-44D1-A5C2-2B99FCD0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832c8fb0143c8"/>
          <a:stretch xmlns:a="http://schemas.openxmlformats.org/drawingml/2006/main"/>
        </p:blipFill>
        <p:spPr>
          <a:xfrm xmlns:a="http://schemas.openxmlformats.org/drawingml/2006/main">
            <a:off x="723900" y="2439987"/>
            <a:ext cx="4991100" cy="29114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69015-6E4E-4D57-BFDE-441BFF8C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시도별 MAE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3C3E9-5D4C-4A94-BD88-79C50411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574edd0334e7d"/>
          <a:stretch xmlns:a="http://schemas.openxmlformats.org/drawingml/2006/main"/>
        </p:blipFill>
        <p:spPr>
          <a:xfrm xmlns:a="http://schemas.openxmlformats.org/drawingml/2006/main">
            <a:off x="6477000" y="2701528"/>
            <a:ext cx="4991100" cy="238839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A3AC0-A8FC-4678-9F68-3DCC4911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435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prediction scatter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F2FCC-982A-4EB4-A167-0E11F26F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dataset_report/figures, charts</a:t>
            </a:r>
          </a:p>
        </p:txBody>
      </p:sp>
    </p:spTree>
    <p:extLst>
      <p:ext uri="{BB962C8B-B14F-4D97-AF65-F5344CB8AC3E}">
        <p14:creationId xmlns:p14="http://schemas.microsoft.com/office/powerpoint/2010/main" val="633895851"/>
      </p:ext>
    </p:extLst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65D2F2-D218-4ACD-870B-C80EBD70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0337E-2A10-4156-AD01-BD766E48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5FBCE-6C7B-4230-988A-4123BBED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9A310-C098-4E43-A2CA-E953D7C3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D2E37-F60E-48C2-B675-786C3C8D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GRAPHRAG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0B794-914E-4172-B5EF-D40F79B0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F3BCF-1815-4EF2-AE50-673D4AC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GraphRAG는 추천 결과에 이유를 붙이기 위한 모델링 축입니다.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D0F1D-F9D3-434F-B3A2-D4F9FCF9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다국어 임베딩, ChromaDB 검색, LLM 응답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27D2F-B915-406B-ABEB-CACA1849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25B37-EF90-4E99-85D2-8003DC2F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874K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D88F4A-81FF-49FE-8873-78859566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POI index 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31F609-2ED9-47FD-858C-CB183F10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C1813A-C71E-42FC-9F41-2009A94E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0C99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0C997"/>
                </a:solidFill>
                <a:latin typeface="Aptos"/>
                <a:ea typeface="Aptos"/>
                <a:cs typeface="Aptos"/>
              </a:rPr>
              <a:t>0.79s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38AFF-EDBC-44E2-88A3-FD4DAEB3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Groq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4416E-420A-4C99-8205-B53F3C16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81250"/>
            <a:ext cx="152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2B2B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0BFAA1-4A67-4BF0-9EAD-F9A7A91A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05075"/>
            <a:ext cx="1181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AA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5AA7FF"/>
                </a:solidFill>
                <a:latin typeface="Aptos"/>
                <a:ea typeface="Aptos"/>
                <a:cs typeface="Aptos"/>
              </a:rPr>
              <a:t>384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902D5-D882-4321-8A1C-73DDB6BA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76550"/>
            <a:ext cx="1181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embedding dim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74432-A7AE-4853-B71D-4B2DEA3C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47900"/>
            <a:ext cx="49530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9a74443bd4427"/>
          <a:stretch xmlns:a="http://schemas.openxmlformats.org/drawingml/2006/main"/>
        </p:blipFill>
        <p:spPr>
          <a:xfrm xmlns:a="http://schemas.openxmlformats.org/drawingml/2006/main">
            <a:off x="6248400" y="2398395"/>
            <a:ext cx="4800600" cy="288036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29FBC-ECF5-470D-A513-90896A01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054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DA375D-47A9-4BB4-BF11-5B37F03A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report_step4_rag_pipeline.md</a:t>
            </a:r>
          </a:p>
        </p:txBody>
      </p:sp>
    </p:spTree>
    <p:extLst>
      <p:ext uri="{BB962C8B-B14F-4D97-AF65-F5344CB8AC3E}">
        <p14:creationId xmlns:p14="http://schemas.microsoft.com/office/powerpoint/2010/main" val="50501120"/>
      </p:ext>
    </p:extLst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A50DC9-3755-4CD9-9339-89016A92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BEB6E-6185-4219-9DA5-68099BDD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AE0A2-8E15-4CE9-8F2E-AD04BF49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E2CF7-04C1-4D76-B1A5-29A80EFB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6E801-62C1-4F24-9152-F0178500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SCORE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F9451-283A-43C7-A137-75BB3374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D88A62-6EFA-4017-A5B1-105A6441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개별 모델은 최종적으로 하나의 경로 weight로 통합됩니다.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72A11-A77E-444E-8DB7-5670231B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Safety, weather penalty, tourism, consume 조건을 함께 계산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A8F47-0980-4C17-B168-492DEDF3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5A4AA-BD75-4482-BB16-CEAEE33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F95C8F-A939-418C-9DB7-5BC3C42D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48F63-3280-4B43-BF4B-B3305F84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도로 위험도와 지역 위험 보정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DEAC5D-80DD-41FB-8F89-A27894BC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AC961-528C-4BAD-B9B3-F4FCDB64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953DF5-6398-4626-B6E6-2FA0E106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209AB-7188-4D72-AA3B-1FA61F93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Weather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CF30C-0929-471E-A1BD-D0DBB0F9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비/흐림 penalty로 경로 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5F59D5-47A2-4D7A-ADFE-B8DDFFC7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61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7EE6FB-AF85-4B8D-8C66-987CA7B3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3B44BB-EA54-43DD-9852-E1E9CAFE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1E99DD-75A4-4047-B733-444CC7E2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Tourism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06BB41-5908-4B17-8067-F6D8C6A8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POI 매력도와 취향 점수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4FD1E-3E1B-4562-A131-82EC90F8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812306-E2C6-4884-B713-AB2543CE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DA142C-5B59-4854-AC30-3581BA0D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10CE4F-D940-498E-BCB3-727F53E2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Budget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C82F8A-2152-4DEB-B36F-433167E7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예산 현실성 보정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0A3667-2D90-47AE-93D7-645F0578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45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55AEC0-DFB3-4D8C-9F37-1C6FE326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9A615F-BC76-4D43-A77A-5EA63873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5D2E79-CB2C-4E66-BFE1-212D6045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51F8C2-0891-4465-9B30-554141DC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GraphRAG 추천 이유 생성</a:t>
            </a:r>
          </a:p>
        </p:txBody>
      </p:sp>
    </p:spTree>
    <p:extLst>
      <p:ext uri="{BB962C8B-B14F-4D97-AF65-F5344CB8AC3E}">
        <p14:creationId xmlns:p14="http://schemas.microsoft.com/office/powerpoint/2010/main" val="512611184"/>
      </p:ext>
    </p:extLst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9362B9-12BE-4113-A5C4-5D885D8F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C7D99-02B0-46E2-9285-F0C3C4EB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C76CA-70E8-4119-8805-0F800CD0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9335B-BE0E-41E1-9C43-B43EC816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C1283-2AAD-4C1D-ACFE-04EE574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CHAPTER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4DE27-E04E-4675-8EF2-95F290FE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B3150-3809-427D-941C-AC1D7E45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Image / TTS / Video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FA81D-2C56-43BA-B6BC-FBA8C766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여행로그 생성은 이미지 하나에서 영상까지 이어지는 파이프라인입니다.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9A012-4D93-44C7-A7D5-99CBF30F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04775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7F7D8-8567-44D3-AF60-B5A24BD7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여행로그 생성은 이미지 하나에서 영상까지 이어지는 파이프라인입니다.</a:t>
            </a:r>
          </a:p>
        </p:txBody>
      </p:sp>
    </p:spTree>
    <p:extLst>
      <p:ext uri="{BB962C8B-B14F-4D97-AF65-F5344CB8AC3E}">
        <p14:creationId xmlns:p14="http://schemas.microsoft.com/office/powerpoint/2010/main" val="1228927400"/>
      </p:ext>
    </p:extLst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E69757-A704-4732-86B6-47FE1D17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AE86F-8750-4211-A29A-EDD632AA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82DBE-E048-4F21-B0B8-B813500C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B260A-5651-49D3-ACFC-C154FD09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03EC4-A82E-4BB0-A4D6-55806A74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MEDIA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61554-1540-4200-8BB4-7FA8EFBA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518BD-B106-4110-B16B-EFB410FD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AI 여행로그 생성은 5단계 파이프라인으로 설계했습니다.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69987-6158-45D3-A6D7-59CDC842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이미지 → 설명/프롬프트 → 음성 → 영상 → 합성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955C0-DFCE-48C9-8FEB-C8CA6749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17FA8-9972-4A6C-BC43-48752E30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A030F-2D81-4002-B98D-BF3C124C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3AEA7-57FC-490C-99DD-28D175A6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커뮤니티/여행 사진 업로드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E262A0-570A-4667-B0F3-DD174AF7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CC5D46-B353-48F4-845E-C3C18DD9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603FD-60E9-4EFE-A74B-2FBEDE76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1CC82A-E1D2-4D59-BE99-AA43C685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Caption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CB02F-6ACF-45F2-96BD-1241AF66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BLIP-2로 장면 설명 추출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2BDCD-2088-4B88-B21F-D438DBB4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61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BDE0E-132D-4334-AD11-CEBF6EA0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DD3FF4-B336-43D0-88D7-F9A8CD60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BCF6DE-9F1B-4625-8D53-713E5B6D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Narration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EED334-CE57-493F-9323-49B6F975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LLM이 영상 스크립트 정리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957E8-290D-443F-BC4D-27C8B580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9407F-910E-410D-8A80-E1ADC769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7E1EED-83DF-414A-A0CE-4B5B5D727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4D268A-CCBF-4F59-8D3E-E3AED437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Media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A231D3-AB56-40A9-90CE-03B46437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TTS와 영상 생성 병렬 실행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C6F6D8-BDBE-4296-B110-4FC993A1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45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086B71-7E8B-4ADE-AC36-635D901A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B39BC-371D-4CFD-A574-B5DCC42D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181B1D-861C-43C1-9CEA-F938F056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FFmpeg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3AF121-B966-44FB-AFAF-0BFBE36A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영상, 음성, 자막 최종 합성</a:t>
            </a:r>
          </a:p>
        </p:txBody>
      </p:sp>
    </p:spTree>
    <p:extLst>
      <p:ext uri="{BB962C8B-B14F-4D97-AF65-F5344CB8AC3E}">
        <p14:creationId xmlns:p14="http://schemas.microsoft.com/office/powerpoint/2010/main" val="1130906665"/>
      </p:ext>
    </p:extLst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391AAB-87FE-4E22-A734-13086139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92063-8696-4DE3-890C-E5A65131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3C8CE-EE13-4BED-9444-B4C53B2E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52635-F0BA-407A-9979-1C0D3706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49DD5-8310-4EB0-965B-47218570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IMAGE TO 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AE16A-EEE3-43AA-B37D-78F5FE91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EC9A9-AEA6-4616-A0CA-F27E154E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이미지 → 텍스트는 BLIP-2를 중심으로 설계했습니다.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DE964-4A02-4A1B-BA3F-D7DB0A8B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사진을 영상 프롬프트로 바꾸기 위한 중간 표현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A6E562-C510-4F57-ABFC-B6BF3A8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83E92-778E-4F97-97D4-FCCDFEEE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0CC318-824E-4B79-92BB-C53F74B7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Frozen image 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04A1C-9F12-4D22-BF4B-7929D540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사진의 시각 특징을 추출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43A50-CDE3-4E3E-A94B-34C01FC3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1EF33-D15C-44F5-A45D-A04F479F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50574-B0D1-4E39-BBE5-BCD43F5D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Q-Former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F80F8-5E06-4A29-A3D0-E5F2667D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이미지 특징을 언어 모델이 읽을 수 있게 질의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ADD0B-6518-48E0-B4DA-C02D0FED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A34828-96EB-4809-952D-227B1F09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76691-9B69-4282-8A92-56E970B5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Frozen LLM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BCE67-1BCF-4DBA-9FAB-C0891586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캡션과 video prompt로 변환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4866C-FC2E-4B29-9F38-78105DA5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3BA36-A4F8-4201-A9A8-634C686A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7F8644-40AF-44A5-8260-0E2A8CF5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18B66D-4A42-40CA-9637-F0F3B972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narration, ko/en prompt, scene shot list</a:t>
            </a:r>
          </a:p>
        </p:txBody>
      </p:sp>
    </p:spTree>
    <p:extLst>
      <p:ext uri="{BB962C8B-B14F-4D97-AF65-F5344CB8AC3E}">
        <p14:creationId xmlns:p14="http://schemas.microsoft.com/office/powerpoint/2010/main" val="2129846760"/>
      </p:ext>
    </p:extLst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B6DDD3-ECCE-4E6E-A898-D4C960D1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F5FAD-513F-43EB-9D5B-D1ABEDE86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E86F4-0EA8-4DEB-94FD-C17A5CCB8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11C42-CEA3-462C-81D2-8583E432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FE6E1-C06F-4DCF-AAB7-DC34525C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TEXT TO TTS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C04C8-6981-43F6-8E08-126436BF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ABDF4-09CB-482F-9E24-26275918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텍스트 → TTS는 GPT-SoVITS와 gTTS를 함께 고려한 하이브리드였습니다.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11DEE-162B-4490-B613-8E88AD10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고품질 음성 목표와 안정적 fallback을 함께 설계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60E93-F4BB-4C00-A19C-335BFE6B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937E76-ACCE-4591-9AB8-B6CC5119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B3046-482E-460C-8EA2-2F99C7557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GPT-SoVITS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2D1AE1-7392-4113-8E5E-0B28C0B5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한국어 음성 품질과 커스텀 음색을 목표로 실험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4D5D9-FC7E-4BF1-B8CC-9751E314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9A798-D479-44DE-A626-84C7C925E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B559A-2250-4DEF-A256-85117D19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gTTS fallback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44B00-195C-482A-8854-15F80A6F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빠르게 동작하는 안정적 대체 경로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0EB260-8398-4BB6-B2EF-D971BE79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ADC88-32C8-416F-B238-42F52469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E37404-7CE7-49E9-A07D-B3C41E12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Language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37AA34-D235-4449-86B5-0047EEE9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WebUI와 API의 ko/Korean 차이를 정리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1C6342-DDF8-4753-97C3-E5BBCC12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C3A734-DE81-4F64-8214-E449C515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2C8DD-C946-4316-BEC7-6BEE5DDC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0598FD-6068-4168-A4EC-3193A324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narration.wav 또는 mp3를 영상 합성으로 전달</a:t>
            </a:r>
          </a:p>
        </p:txBody>
      </p:sp>
    </p:spTree>
    <p:extLst>
      <p:ext uri="{BB962C8B-B14F-4D97-AF65-F5344CB8AC3E}">
        <p14:creationId xmlns:p14="http://schemas.microsoft.com/office/powerpoint/2010/main" val="1562795968"/>
      </p:ext>
    </p:extLst>
  </p:cSld>
  <p:clrMapOvr>
    <a:masterClrMapping/>
  </p:clrMapOvr>
</p:sld>
</file>

<file path=ppt/slides/slide3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EED5DB-1B01-4393-97FC-D1B4A08E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317C7-148E-4D1D-BA99-A6D6C867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E530C-CD46-4442-86EA-4DBE0C4B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A32CF-C021-4517-BE0B-17C66E09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115CF3-D61C-4BA7-A3A5-CD8A035C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IMAGE TO VIDEO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33A515-9297-4AED-9D8B-22B3E075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C249C-26A4-4142-9BDE-11599091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이미지/낙서 → 영상은 무거운 생성 모델과 가벼운 모션을 분리했습니다.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94CD96-99D8-4BDD-9770-44A31D90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CogVideoX와 3D Photo Inpainting을 용도별 후보로 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BD62EC-2777-48C8-8452-79C70D6B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824CE-5683-4467-A151-2C2E0497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A8FF73-3281-44DB-82FD-03F396CE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CogVideoX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72BD1-9024-4473-B46F-7B577506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텍스트/이미지 기반 고품질 생성 후보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82260-DC3A-4457-93F0-AB4619F1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341AA-9969-4C50-9841-F62C5B18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290DC-5373-4CFB-9571-D945732D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3D Photo Inpainting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85328-9FCC-4539-AA40-8548A147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사진에 깊이감을 주는 가벼운 Ken Burns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ECC0F-DA35-4F2B-8A4C-E62C85B6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4675C3-BD40-47AE-9411-F5A5457F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45D526-BFA0-443E-8B08-AF93E3D5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Sketch 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D9B904-92FB-48B4-ACD1-16ABBA10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낙서나 간단한 입력은 prompt와 reference로 변환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B20AE-665C-433E-A794-9E33B644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CE29E-F828-4EF9-A03C-F21F8D0C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71200C-8260-43D8-9220-92906BF5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12C42D-9635-44E8-8A30-23E9A76F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GPU 비용과 대기시간에 따라 모델 선택</a:t>
            </a:r>
          </a:p>
        </p:txBody>
      </p:sp>
    </p:spTree>
    <p:extLst>
      <p:ext uri="{BB962C8B-B14F-4D97-AF65-F5344CB8AC3E}">
        <p14:creationId xmlns:p14="http://schemas.microsoft.com/office/powerpoint/2010/main" val="1342866663"/>
      </p:ext>
    </p:extLst>
  </p:cSld>
  <p:clrMapOvr>
    <a:masterClrMapping/>
  </p:clrMapOvr>
</p:sld>
</file>

<file path=ppt/slides/slide3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1B502F-D811-4E83-856F-484DA653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BB410-F2F8-4B48-9292-E5672214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7C0D3-2573-41D3-9BBA-57743EDF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682D6-25AC-4A70-97FE-B85DA92C7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B3370-95DC-4418-9CA0-BB382417B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VIDEO + TTS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B641F-3D8A-4E1A-9F90-DBC38363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9788C7-91B8-4321-B603-EFC04C34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영상에 TTS를 입히는 마지막 단계는 FFmpeg 합성입니다.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66497-D38A-42D0-9302-B047BA0B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audio mix, subtitle burn-in, final mp4 packaging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37258-3E3F-4FED-9854-DC4FE310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240CE-7FC9-4160-A94E-DB3BB917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EDC9E4-D57F-49C9-A90B-66649829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video.mp4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A9A23-CA30-4B51-A9F5-D6113FDD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생성 영상 또는 모션 이미지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FA9F35-D180-4DD6-97AF-A2CC044E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319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F04018-BF99-4429-A3D0-4B11FD71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B79B1-4EC3-4C2C-B986-9109E85B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EF780-5095-41ED-BC1F-5DCCED51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voice.wav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F8CCB-18E0-425A-BA4A-68525A3E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TTS narration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AF003E-C797-450C-BCA6-141E497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061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11CB16-1C9D-4F83-BB1D-D889EE70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74D0D-5649-4D75-AA21-749644FE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44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17E43-85B6-4F92-8C09-BF24B4C5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subtitle.srt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653A6A-54D7-4966-8987-900ADC17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94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장면 설명/자막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7C6660-1237-4F3B-951E-BD9028E8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03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9D6F9-24DE-474C-B010-5F2B7F41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16EADB-BB3B-4C80-AA36-3537BDE4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186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994590-35D9-40C9-A4B9-4ED4E7D2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mix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FE6FA4-624C-445D-9EB8-AA99BBC9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BGM -18dB, narration 우선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EAC1CD-CF2B-4F88-96AD-6B12CE2A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5455" y="35718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698A48-EEF2-4C75-90D1-1D721D35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6502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10BB7E-919C-419B-80BB-EA29DBF1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4B9DD9-0D38-44FC-8ECC-2DCC9F5D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028950"/>
            <a:ext cx="17030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final.mp4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AD5F49-BF68-4864-B79C-5A335B6F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9780" y="3371850"/>
            <a:ext cx="170307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사용자에게 반환할 결과물</a:t>
            </a:r>
          </a:p>
        </p:txBody>
      </p:sp>
    </p:spTree>
    <p:extLst>
      <p:ext uri="{BB962C8B-B14F-4D97-AF65-F5344CB8AC3E}">
        <p14:creationId xmlns:p14="http://schemas.microsoft.com/office/powerpoint/2010/main" val="1959111666"/>
      </p:ext>
    </p:extLst>
  </p:cSld>
  <p:clrMapOvr>
    <a:masterClrMapping/>
  </p:clrMapOvr>
</p:sld>
</file>

<file path=ppt/slides/slide3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E4154-5BF4-4AAF-9A83-B8BAC3D2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397A4-2895-4B9E-8CD9-511CE3A5E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B7F7E-F941-4FE5-9954-CBAF424B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54333-0206-42F3-B73A-ACFD020A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9157F-BDA6-4614-8D71-4F6F7029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OUTPUT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28CA7-2DAE-4B91-B000-C46C8BAF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C92BB-E143-40C3-AD1C-EAEE416A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화면 캡처와 모델 차트는 산출물이 실제로 남았다는 증거입니다.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5ADF5-0432-4BA0-8041-7FB8AE03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커뮤니티 이미지, 프론트 화면, 모델 성능 이미지를 함께 보관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C69C1B-7F55-4C58-8A5A-552573A6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d490cc7834708"/>
          <a:stretch xmlns:a="http://schemas.openxmlformats.org/drawingml/2006/main"/>
        </p:blipFill>
        <p:spPr>
          <a:xfrm xmlns:a="http://schemas.openxmlformats.org/drawingml/2006/main">
            <a:off x="628650" y="2559219"/>
            <a:ext cx="3276600" cy="257776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47D0B-A0EA-4936-A6CE-0B9D7315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image upload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85518F-E1CD-463B-BE1F-DF2F41AF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193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dd5925b7f4212"/>
          <a:stretch xmlns:a="http://schemas.openxmlformats.org/drawingml/2006/main"/>
        </p:blipFill>
        <p:spPr>
          <a:xfrm xmlns:a="http://schemas.openxmlformats.org/drawingml/2006/main">
            <a:off x="4457700" y="2926556"/>
            <a:ext cx="3276600" cy="1843088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2ADCC-3199-4981-AE97-F82A26F1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53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front 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3C30BA-E7E7-427E-8C76-521DE8D0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193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539ca4e2f94e7f"/>
          <a:stretch xmlns:a="http://schemas.openxmlformats.org/drawingml/2006/main"/>
        </p:blipFill>
        <p:spPr>
          <a:xfrm xmlns:a="http://schemas.openxmlformats.org/drawingml/2006/main">
            <a:off x="8286750" y="3424958"/>
            <a:ext cx="3276600" cy="846284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761127-178D-45BF-9ECB-70574DAD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53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model comparison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0F7EC9-B04F-4C89-BF38-59F4F5DD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report/capture, dataset_report/data</a:t>
            </a:r>
          </a:p>
        </p:txBody>
      </p:sp>
    </p:spTree>
    <p:extLst>
      <p:ext uri="{BB962C8B-B14F-4D97-AF65-F5344CB8AC3E}">
        <p14:creationId xmlns:p14="http://schemas.microsoft.com/office/powerpoint/2010/main" val="1179348676"/>
      </p:ext>
    </p:extLst>
  </p:cSld>
  <p:clrMapOvr>
    <a:masterClrMapping/>
  </p:clrMapOvr>
</p:sld>
</file>

<file path=ppt/slides/slide3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B48370-087E-46FD-93ED-54E3A064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EEBCB0-AE04-478D-8F58-129D3A8B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AF1A2-9F58-45D6-9D37-504E3D3D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81335-1543-4DF3-A76E-B2E68998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320C2-E23B-453E-97BE-4F9E27F3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CHAPTER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4B8D03-B272-4921-90DE-8527F4A9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C8783-E5BE-4A49-80AD-A8885FFB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Troubleshooting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A2ACE-57FE-421D-95D5-183D713F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트러블슈팅은 실패 목록이 아니라 설계가 바뀐 이유입니다.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CDDE4-D4E7-4FE4-A596-54D851EA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04775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DE6530-AB46-4DC7-98FF-7096EE2E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트러블슈팅은 실패 목록이 아니라 설계가 바뀐 이유입니다.</a:t>
            </a:r>
          </a:p>
        </p:txBody>
      </p:sp>
    </p:spTree>
    <p:extLst>
      <p:ext uri="{BB962C8B-B14F-4D97-AF65-F5344CB8AC3E}">
        <p14:creationId xmlns:p14="http://schemas.microsoft.com/office/powerpoint/2010/main" val="339766349"/>
      </p:ext>
    </p:extLst>
  </p:cSld>
  <p:clrMapOvr>
    <a:masterClrMapping/>
  </p:clrMapOvr>
</p:sld>
</file>

<file path=ppt/slides/slide3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91DA10-1E08-45AC-B990-EB41A143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9ADEF-E68E-4287-AE6D-631C299C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F82DE-4C6D-4047-B54A-563602F1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307D2-86CF-4941-ADF2-6B500ED2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B45E9-C8A8-49B4-B694-25F4CA2C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TTS TROUBLE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167FB-2DF7-403C-A78A-EEB2C9DF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0D6D28-0BCB-479F-8467-37F13A76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TTS 문제는 언어 코드와 실행 환경 차이에서 시작됐습니다.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7C984-98F6-49C5-BD85-48220E6F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WebUI와 API가 기대하는 값이 달라 같은 모델도 다르게 실패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EEC448-3F3B-4584-A7B0-85C3014F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09506C-C324-416A-9751-8E8241A0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BBDC4-41A5-4CEF-A5A9-40FCB570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FD115-D183-41FC-9584-4BB0B1BD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44005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WebUI는 Korean/한국어 형태를 기대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API는 ko 값을 요구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Mecab dictionary와 C++ engine 누락으로 crash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8DF1C8-E3FC-42DF-889F-4B21373E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6C005-26EE-434E-813E-ED1EEFC5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03C7C3-7DB6-4B94-AE9E-A2E2ABBA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53BBC6-7631-4437-9E0B-A5994E12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33700"/>
            <a:ext cx="44005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API 서버 기준 언어 코드를 정리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fallback TTS 경로를 준비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모델 파일과 의존성 체크리스트 작성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C4FB9D-A6EE-4AD3-8126-C8A84C52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290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333506435"/>
      </p:ext>
    </p:extLst>
  </p:cSld>
  <p:clrMapOvr>
    <a:masterClrMapping/>
  </p:clrMapOvr>
</p:sld>
</file>

<file path=ppt/slides/slide3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D76E5F-3DCD-46C9-91DC-6215F8FB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4EEEE-53EE-4EE0-BB48-5089ABEE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60C8D-1E5E-48C7-B3AE-4A4C24F0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5BBC72-90E2-4879-945D-BF8F9E4E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0AEF6-47E8-4A09-BECC-72A0D464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GPU TROUBLE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B98DC-8533-49FC-8AE2-B647796C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6BD27-1527-4CB9-BDC6-9106DA29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영상 모델은 GPU 메모리와 대기시간 때문에 운영 구조가 바뀌었습니다.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8A4D7-A56D-48FD-8E86-01645CFD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동기 API 호출이 아니라 비동기 job 구조가 필요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5B825-2535-4200-BDDA-DE6878B5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031E8-50D6-41CE-B4D0-C26CBFFD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1CF4A-B599-424A-A3B9-0A456D7A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B3370-7187-4B85-88F5-B0CEB761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44005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CogVideoX 5B 계열은 VRAM 부담이 큼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무료/로컬 GPU에서 OOM 가능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한 요청이 5~15분 걸릴 수 있음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A0BC3-B232-4631-884F-732A6E88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16107-3B04-49C5-936E-9FCE8327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8DF0C-F51C-4A6F-93EB-59C258C6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1ECDC-7559-4AFD-8863-4AF13832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33700"/>
            <a:ext cx="44005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Celery queue로 작업 분리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상태 조회와 progress 이벤트 설계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가벼운 3D Photo Inpainting 후보 병행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B26980-50E9-445B-A79B-81B98315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290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057042032"/>
      </p:ext>
    </p:extLst>
  </p:cSld>
  <p:clrMapOvr>
    <a:masterClrMapping/>
  </p:clrMapOvr>
</p:sld>
</file>

<file path=ppt/slides/slide4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48B115-9650-4364-A459-191FC44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04356-0956-456F-8E1E-D81E8336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C1096-7954-47BB-951F-16A4202B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E9D62-D613-43DF-8AE0-51FD6A23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FC8C9-17D2-47E5-80CE-091595E6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DATA TROUBLE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BA88A-3FBF-48BD-AE3D-5E7575BA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890CC8-84E0-41DD-AEDF-A375F311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데이터와 모델 문제는 성능보다 신뢰성 검증으로 이어졌습니다.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0E8FF-FB06-42A9-8528-B17E4A74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결측, 불균형, 지역 편차, 과적합 가능성을 산출물에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C7340-CE07-4869-B563-6808678D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A88DC-E724-4A1E-98D1-F4F20A6C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4A263-0E43-4A3E-AFD5-89523F70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49351-A422-432E-8CA1-3FF2A2EB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44005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날씨 흐림 클래스 recall 약함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소비 모델 지역별 오차 존재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Safety 모델은 지표가 높아 과적합 검토 필요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0D71A-58A0-45EB-8886-2B85F59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8C2A2-16AE-48CF-8BA1-8A9DCA6D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683A32-577D-4665-B5FB-6156FE82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0DE42-1111-48C4-A161-A09EA6C0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33700"/>
            <a:ext cx="44005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class metrics를 별도 저장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시도별 MAE 차트를 생성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feature importance와 confusion matrix로 설명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46CB2-B545-4B20-A1E8-56FC6BC0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290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75797069"/>
      </p:ext>
    </p:extLst>
  </p:cSld>
  <p:clrMapOvr>
    <a:masterClrMapping/>
  </p:clrMapOvr>
</p:sld>
</file>

<file path=ppt/slides/slide4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14F8C6-95C3-4B43-A508-3CE619E2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8D991-3E41-4D9E-ABD8-8EB2D368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4D78C-C771-4EAE-BF44-3B1CE761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7A4C32-FC1E-48A8-B05D-796007B2C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10D33-EC77-4189-97F6-605C6BA9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SCREEN TROUBLE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2557A-10D3-49E3-A691-54007218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B8C35-7D25-4C18-A4A9-99CA6F1B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화면 문제는 캡처 테스트와 커뮤니티 기능 검증으로 정리했습니다.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154147-C9C5-43D8-B31F-298EF7E8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레이아웃 문제와 기능 연결을 사진으로 남김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FC0F6B-8AA6-43F0-8465-BD46935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3F083-B4B0-4CD8-84C8-58CFD10F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754B6-4B49-4ABD-874D-F191C316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BA438-614D-4E3A-BACF-D555C563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44005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인트로 화면 레이아웃 문제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커뮤니티 read 화면 이미지 표시 필요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Next 실행 환경과 빌드 옵션 차이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BF63A7-FECC-4F24-87C5-5CEB2DBC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85B61-4EA6-41B1-99F9-96C015B9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193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B1182E-43AF-4ED2-8F9D-263FA888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90800"/>
            <a:ext cx="4400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F9B89-5606-49C3-AB75-76A57382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33700"/>
            <a:ext cx="44005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Playwright 캡처 저장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작성/목록/상세 이미지 표시 검증</a:t>
            </a:r>
          </a:p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- webpack 기준 로컬 검증 흐름 정리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7B844-441A-4B3F-B28C-5294C7CB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29000"/>
            <a:ext cx="43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92516242"/>
      </p:ext>
    </p:extLst>
  </p:cSld>
  <p:clrMapOvr>
    <a:masterClrMapping/>
  </p:clrMapOvr>
</p:sld>
</file>

<file path=ppt/slides/slide4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FA58D2-8F7B-414C-8CA8-92570D92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38C52-3668-4AFC-86CB-5C485C09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304C63-57C1-439D-B586-3241298E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B86A6-300D-4805-AF4A-130C26C2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124C0-8305-4CBB-9373-146CC4DB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CHAPTER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B8F85-C705-4FD2-8B1D-7E9A31EF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BBB13-809B-46DA-8D56-F09D1C17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Tools /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2D9F3-A36C-49AA-9DCA-9E00920E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현재 쓰는 도구와 캡처 기록이 다음 단계의 기반입니다.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7308D-80D3-403D-8F9B-505B107C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04775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4910D-7721-4796-B498-2FF85A96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813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현재 쓰는 도구와 캡처 기록이 다음 단계의 기반입니다.</a:t>
            </a:r>
          </a:p>
        </p:txBody>
      </p:sp>
    </p:spTree>
    <p:extLst>
      <p:ext uri="{BB962C8B-B14F-4D97-AF65-F5344CB8AC3E}">
        <p14:creationId xmlns:p14="http://schemas.microsoft.com/office/powerpoint/2010/main" val="1959633667"/>
      </p:ext>
    </p:extLst>
  </p:cSld>
  <p:clrMapOvr>
    <a:masterClrMapping/>
  </p:clrMapOvr>
</p:sld>
</file>

<file path=ppt/slides/slide4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EF4A88-3230-4278-82E1-1626FAE5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2EFBF-A1B7-495E-8571-21AC0C94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73D5C-A3EB-489D-A0ED-1D54555D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A0A1E-A0C9-46E7-B483-4B9F7EB9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5D4CD-5CB4-470B-87C3-CB7AB59A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CURRENT 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7C614-BB1F-4DFC-BB22-86017C08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6B9C4-59D9-4FBB-AD78-3692E4E4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현재 사용하는 도구들은 개발, 데이터, 모델, 운영으로 나뉩니다.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D0F808-820B-4895-B926-06D92C1F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각 도구는 한 역할만 명확히 맡도록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6DAA1-6A90-4F66-BD20-E9937040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22DDD-A5F1-4271-8D5F-BEEECC09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25919-0112-42D1-9366-9DB2BD75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9BF3E1-29CB-4219-AB11-97F70F90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Next.js, React, Playwright, SDUI metadata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B8F35-9B84-44BF-A9F7-B2EE234A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F76660-AD82-4C3C-B9A2-A1BABC36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5F7BD-87BB-4B12-BAC1-FEAEF1A3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EFE0C0-47A7-4478-9CF4-8278A55C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Spring Boot, FastAPI, PostgreSQL, Redis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28FAA-ECEA-439B-A7FE-0F5EFD1E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16AEFF-BC8D-4A8B-A869-636D5883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CB902-E00B-4174-8E0A-6C56E81A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AI/Data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780C4F-638B-4D80-8376-8ED4DF67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PyTorch, TabNet, scikit-learn, BLIP-2, GPT-SoVITS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51D5FF-791F-4C8B-913A-BB102DFE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5527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DDC07-3542-473A-BBDD-3EEA6763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47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E78FC0-44FA-47DA-814C-164CD41E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43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Ops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F2147D-70FA-41D8-BE54-FDC466AD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86100"/>
            <a:ext cx="21907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Docker Compose, TorchServe, MLflow, FFmpeg</a:t>
            </a:r>
          </a:p>
        </p:txBody>
      </p:sp>
    </p:spTree>
    <p:extLst>
      <p:ext uri="{BB962C8B-B14F-4D97-AF65-F5344CB8AC3E}">
        <p14:creationId xmlns:p14="http://schemas.microsoft.com/office/powerpoint/2010/main" val="556814418"/>
      </p:ext>
    </p:extLst>
  </p:cSld>
  <p:clrMapOvr>
    <a:masterClrMapping/>
  </p:clrMapOvr>
</p:sld>
</file>

<file path=ppt/slides/slide4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000FD9-DB46-41CE-9B18-2A648940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5E4963-F28E-4287-AA0A-FFD18EA5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C6DBD-35C4-423B-A78C-8440A1AB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28C4C-87DC-4C18-8F9A-70672904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5B93C-D48A-47BD-A230-03F8AE90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COMMUNITY CAPTURES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7E9A4-2028-4C2E-922C-AD38E27C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0AAC4-4A8D-4718-98D8-F0EAEF03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기존 커뮤니티 캡처 이미지는 그대로 증거 슬라이드에 남겼습니다.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1C675-7B39-488C-9D4A-4D6A4F7F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목록, 작성, 상세, 수정, 빈 상태까지 기능 흐름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A9A4A-B5C5-42AC-AB4E-03C35849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6289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902d22bdb4d45"/>
          <a:stretch xmlns:a="http://schemas.openxmlformats.org/drawingml/2006/main"/>
        </p:blipFill>
        <p:spPr>
          <a:xfrm xmlns:a="http://schemas.openxmlformats.org/drawingml/2006/main">
            <a:off x="723900" y="2356247"/>
            <a:ext cx="2476500" cy="139303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59996-50CF-45E2-8D30-9ECD495E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6289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c91c0494724143"/>
          <a:stretch xmlns:a="http://schemas.openxmlformats.org/drawingml/2006/main"/>
        </p:blipFill>
        <p:spPr>
          <a:xfrm xmlns:a="http://schemas.openxmlformats.org/drawingml/2006/main">
            <a:off x="3467100" y="2356247"/>
            <a:ext cx="2476500" cy="1393031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72AE1-6273-4008-83E4-4FBEA063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26289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713b72a884896"/>
          <a:stretch xmlns:a="http://schemas.openxmlformats.org/drawingml/2006/main"/>
        </p:blipFill>
        <p:spPr>
          <a:xfrm xmlns:a="http://schemas.openxmlformats.org/drawingml/2006/main">
            <a:off x="6210300" y="2356247"/>
            <a:ext cx="2476500" cy="1393031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B147F-51FA-4312-BFBF-10B5B644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47900"/>
            <a:ext cx="26289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0917ae72c4757"/>
          <a:stretch xmlns:a="http://schemas.openxmlformats.org/drawingml/2006/main"/>
        </p:blipFill>
        <p:spPr>
          <a:xfrm xmlns:a="http://schemas.openxmlformats.org/drawingml/2006/main">
            <a:off x="9069382" y="2324100"/>
            <a:ext cx="2244736" cy="14573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E38FE-7C9F-4B01-B591-F26B58AE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2628900" cy="1609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8d6a9803147c1"/>
          <a:stretch xmlns:a="http://schemas.openxmlformats.org/drawingml/2006/main"/>
        </p:blipFill>
        <p:spPr>
          <a:xfrm xmlns:a="http://schemas.openxmlformats.org/drawingml/2006/main">
            <a:off x="1068771" y="4048125"/>
            <a:ext cx="1786759" cy="14573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BB0F4-9131-4061-96B3-373F1D9B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85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기존 캡처 이미지를 원본 그대로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F4D16C-A04A-470B-9866-4CA29F2D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report/capture/community-*.png</a:t>
            </a:r>
          </a:p>
        </p:txBody>
      </p:sp>
    </p:spTree>
    <p:extLst>
      <p:ext uri="{BB962C8B-B14F-4D97-AF65-F5344CB8AC3E}">
        <p14:creationId xmlns:p14="http://schemas.microsoft.com/office/powerpoint/2010/main" val="628811744"/>
      </p:ext>
    </p:extLst>
  </p:cSld>
  <p:clrMapOvr>
    <a:masterClrMapping/>
  </p:clrMapOvr>
</p:sld>
</file>

<file path=ppt/slides/slide4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3D1182-4B3A-4739-8092-78E09F94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BE0E3-0A11-4C7B-8D8D-C240BF66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A9DBA-E64F-4916-A835-57319873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D73B3E-775E-421B-A67C-96DBFD12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465B4-C63F-4E84-8192-028CE315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FRONT CAPTURES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A2BB8-58BD-4805-A33A-F4D332AE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46D8A1-2E1A-4EB0-B1BA-C991B301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초기 화면 캡처도 문제 해결 기록으로 유지했습니다.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FCEAA-3E86-4527-B93E-92EEE954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화면이 바뀐 과정과 테스트 흔적을 발표 자료 안에 보관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D6552-7344-450E-A311-21203686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d819876234af2"/>
          <a:stretch xmlns:a="http://schemas.openxmlformats.org/drawingml/2006/main"/>
        </p:blipFill>
        <p:spPr>
          <a:xfrm xmlns:a="http://schemas.openxmlformats.org/drawingml/2006/main">
            <a:off x="723900" y="2515307"/>
            <a:ext cx="2476500" cy="50023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7DB828-461C-452B-B733-E5071C3A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d788ed6054eb2"/>
          <a:stretch xmlns:a="http://schemas.openxmlformats.org/drawingml/2006/main"/>
        </p:blipFill>
        <p:spPr>
          <a:xfrm xmlns:a="http://schemas.openxmlformats.org/drawingml/2006/main">
            <a:off x="3594075" y="2324100"/>
            <a:ext cx="2222549" cy="8826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FA5F5-F436-4605-B25D-C45F7B22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7021cdbb64d6a"/>
          <a:stretch xmlns:a="http://schemas.openxmlformats.org/drawingml/2006/main"/>
        </p:blipFill>
        <p:spPr>
          <a:xfrm xmlns:a="http://schemas.openxmlformats.org/drawingml/2006/main">
            <a:off x="6210300" y="2425435"/>
            <a:ext cx="2476500" cy="679979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4B860-D8B9-45D0-95FB-351F8EDC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4790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a73533f653478d"/>
          <a:stretch xmlns:a="http://schemas.openxmlformats.org/drawingml/2006/main"/>
        </p:blipFill>
        <p:spPr>
          <a:xfrm xmlns:a="http://schemas.openxmlformats.org/drawingml/2006/main">
            <a:off x="8953500" y="2393950"/>
            <a:ext cx="2476500" cy="7429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B4E1F8-B3FD-445F-B1A2-6BAA8B08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725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8ed6d6d6b4506"/>
          <a:stretch xmlns:a="http://schemas.openxmlformats.org/drawingml/2006/main"/>
        </p:blipFill>
        <p:spPr>
          <a:xfrm xmlns:a="http://schemas.openxmlformats.org/drawingml/2006/main">
            <a:off x="723900" y="3624020"/>
            <a:ext cx="2476500" cy="58151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70B14-465D-48A6-AB8B-43C9D522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725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d6c54937a4d3a"/>
          <a:stretch xmlns:a="http://schemas.openxmlformats.org/drawingml/2006/main"/>
        </p:blipFill>
        <p:spPr>
          <a:xfrm xmlns:a="http://schemas.openxmlformats.org/drawingml/2006/main">
            <a:off x="4316850" y="3473450"/>
            <a:ext cx="777001" cy="882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EBB9E2-ADC0-4043-977E-FCACB116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9725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886e6221af4bf4"/>
          <a:stretch xmlns:a="http://schemas.openxmlformats.org/drawingml/2006/main"/>
        </p:blipFill>
        <p:spPr>
          <a:xfrm xmlns:a="http://schemas.openxmlformats.org/drawingml/2006/main">
            <a:off x="6474994" y="3473450"/>
            <a:ext cx="1947112" cy="8826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33585-CBBD-4996-9B41-64E8DA80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9725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998e452f842cc"/>
          <a:stretch xmlns:a="http://schemas.openxmlformats.org/drawingml/2006/main"/>
        </p:blipFill>
        <p:spPr>
          <a:xfrm xmlns:a="http://schemas.openxmlformats.org/drawingml/2006/main">
            <a:off x="9218194" y="3473450"/>
            <a:ext cx="1947112" cy="8826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0D2BCA-ACCA-471D-BE9A-FF5F1458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660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fe47d8c9347ba"/>
          <a:stretch xmlns:a="http://schemas.openxmlformats.org/drawingml/2006/main"/>
        </p:blipFill>
        <p:spPr>
          <a:xfrm xmlns:a="http://schemas.openxmlformats.org/drawingml/2006/main">
            <a:off x="988594" y="4622800"/>
            <a:ext cx="1947112" cy="8826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D7C173-CC27-4BB7-93D5-5AB576B1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4660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c4a8dc2e84813"/>
          <a:stretch xmlns:a="http://schemas.openxmlformats.org/drawingml/2006/main"/>
        </p:blipFill>
        <p:spPr>
          <a:xfrm xmlns:a="http://schemas.openxmlformats.org/drawingml/2006/main">
            <a:off x="4283330" y="4622800"/>
            <a:ext cx="844041" cy="8826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1C3C5D-E932-4F86-9F9E-D3F3D722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85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기존 캡처 이미지를 원본 그대로 사용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ED9D56-A10C-4CE4-84FB-6DA21340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report/capture/아침3_*.png</a:t>
            </a:r>
          </a:p>
        </p:txBody>
      </p:sp>
    </p:spTree>
    <p:extLst>
      <p:ext uri="{BB962C8B-B14F-4D97-AF65-F5344CB8AC3E}">
        <p14:creationId xmlns:p14="http://schemas.microsoft.com/office/powerpoint/2010/main" val="339887135"/>
      </p:ext>
    </p:extLst>
  </p:cSld>
  <p:clrMapOvr>
    <a:masterClrMapping/>
  </p:clrMapOvr>
</p:sld>
</file>

<file path=ppt/slides/slide4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150C55-A862-434B-998E-5EE4C62E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0A3AED-6816-42EE-AEC3-315F262D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21509-ED7F-4F29-B2DF-B70A316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6C153-1702-4D9F-9789-5CD431FB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268E3-867E-424E-AA91-34D09346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FRONT CAPTURES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67076-45A1-4EAB-8CDD-119BD333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92D69-A74D-4F0E-B51A-5F4B82BA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남은 화면 캡처도 반복 없이 한 번씩만 배치했습니다.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B6E36-67A6-48EB-B710-C5776DCF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대표 슬라이드에서 사용한 캡처는 제외하고, 나머지만 아카이브로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AA153-4096-4CA2-A782-B658BB54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feb68b1df4e45"/>
          <a:stretch xmlns:a="http://schemas.openxmlformats.org/drawingml/2006/main"/>
        </p:blipFill>
        <p:spPr>
          <a:xfrm xmlns:a="http://schemas.openxmlformats.org/drawingml/2006/main">
            <a:off x="1152073" y="2324100"/>
            <a:ext cx="1620153" cy="8826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1C9B7-4C17-441A-8967-254C2C61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47e0d5ebf4d73"/>
          <a:stretch xmlns:a="http://schemas.openxmlformats.org/drawingml/2006/main"/>
        </p:blipFill>
        <p:spPr>
          <a:xfrm xmlns:a="http://schemas.openxmlformats.org/drawingml/2006/main">
            <a:off x="4238373" y="2324100"/>
            <a:ext cx="933953" cy="8826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DD9C1-221E-4276-94CC-4B98B2E9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24790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5c840566a4c6c"/>
          <a:stretch xmlns:a="http://schemas.openxmlformats.org/drawingml/2006/main"/>
        </p:blipFill>
        <p:spPr>
          <a:xfrm xmlns:a="http://schemas.openxmlformats.org/drawingml/2006/main">
            <a:off x="6977266" y="2324100"/>
            <a:ext cx="942569" cy="8826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A34A8-106B-45FD-ACCA-AC264A1E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4790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b48f63ed64e1e"/>
          <a:stretch xmlns:a="http://schemas.openxmlformats.org/drawingml/2006/main"/>
        </p:blipFill>
        <p:spPr>
          <a:xfrm xmlns:a="http://schemas.openxmlformats.org/drawingml/2006/main">
            <a:off x="9652271" y="2324100"/>
            <a:ext cx="1078958" cy="8826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883B5-012F-4DF8-8D0C-35118721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9725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757a0879b449d"/>
          <a:stretch xmlns:a="http://schemas.openxmlformats.org/drawingml/2006/main"/>
        </p:blipFill>
        <p:spPr>
          <a:xfrm xmlns:a="http://schemas.openxmlformats.org/drawingml/2006/main">
            <a:off x="1143849" y="3473450"/>
            <a:ext cx="1636601" cy="8826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0BEC21-0160-4977-A7FC-6189338C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725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bb6e2bda345a7"/>
          <a:stretch xmlns:a="http://schemas.openxmlformats.org/drawingml/2006/main"/>
        </p:blipFill>
        <p:spPr>
          <a:xfrm xmlns:a="http://schemas.openxmlformats.org/drawingml/2006/main">
            <a:off x="3731794" y="3473450"/>
            <a:ext cx="1947112" cy="8826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71130-3501-4EBB-9162-B2C70683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9725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a16bd0b90c4302"/>
          <a:stretch xmlns:a="http://schemas.openxmlformats.org/drawingml/2006/main"/>
        </p:blipFill>
        <p:spPr>
          <a:xfrm xmlns:a="http://schemas.openxmlformats.org/drawingml/2006/main">
            <a:off x="6474994" y="3473450"/>
            <a:ext cx="1947112" cy="8826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9A035-6DF2-4EC9-90E0-1281B026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9725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ad84b915b4e39"/>
          <a:stretch xmlns:a="http://schemas.openxmlformats.org/drawingml/2006/main"/>
        </p:blipFill>
        <p:spPr>
          <a:xfrm xmlns:a="http://schemas.openxmlformats.org/drawingml/2006/main">
            <a:off x="9218194" y="3473450"/>
            <a:ext cx="1947112" cy="8826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8C52C7-1B08-4231-98C3-059F48C8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46600"/>
            <a:ext cx="2628900" cy="103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a1b30b43841a5"/>
          <a:stretch xmlns:a="http://schemas.openxmlformats.org/drawingml/2006/main"/>
        </p:blipFill>
        <p:spPr>
          <a:xfrm xmlns:a="http://schemas.openxmlformats.org/drawingml/2006/main">
            <a:off x="988594" y="4622800"/>
            <a:ext cx="1947112" cy="8826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84A032-341B-4798-88A4-35E67610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85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기존 캡처 이미지를 원본 그대로 사용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5B0457-239D-4E03-9BA8-4375D181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report/capture/아침3_*.png</a:t>
            </a:r>
          </a:p>
        </p:txBody>
      </p:sp>
    </p:spTree>
    <p:extLst>
      <p:ext uri="{BB962C8B-B14F-4D97-AF65-F5344CB8AC3E}">
        <p14:creationId xmlns:p14="http://schemas.microsoft.com/office/powerpoint/2010/main" val="705735221"/>
      </p:ext>
    </p:extLst>
  </p:cSld>
  <p:clrMapOvr>
    <a:masterClrMapping/>
  </p:clrMapOvr>
</p:sld>
</file>

<file path=ppt/slides/slide4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970787-0960-4EE2-9281-105E6BA0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8AC7E-C107-49F2-AB57-F6B53F58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0BE49-064E-4794-BD9B-3FB2127E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0E8B0-E17B-44A8-81BD-F7031A9D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4D17B-D118-41CC-A442-A45E5354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DATASET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508A3-06C8-4DB4-8279-9C8DE121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55259-7615-4C28-92FA-F2ED2D57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모델링 산출물은 차트와 표로 재현 가능하게 남겼습니다.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AD491-8CB7-4CBE-B719-742519BD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보고서 내용은 슬라이드 노트에, 화면에는 핵심 증거 이미지만 배치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9523F-C807-4913-A52E-B408D43C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cb8c05da54d65"/>
          <a:stretch xmlns:a="http://schemas.openxmlformats.org/drawingml/2006/main"/>
        </p:blipFill>
        <p:spPr>
          <a:xfrm xmlns:a="http://schemas.openxmlformats.org/drawingml/2006/main">
            <a:off x="723900" y="2859677"/>
            <a:ext cx="4991100" cy="207209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77C26-8397-4A59-8061-92B04081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TabNet learning curve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61A5C-1EA4-4711-8D45-325A2191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5143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C0D"/>
          </a:solidFill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973dac9094424"/>
          <a:stretch xmlns:a="http://schemas.openxmlformats.org/drawingml/2006/main"/>
        </p:blipFill>
        <p:spPr>
          <a:xfrm xmlns:a="http://schemas.openxmlformats.org/drawingml/2006/main">
            <a:off x="6477000" y="2439987"/>
            <a:ext cx="4991100" cy="29114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95B36C-DE4E-410D-A83A-79CDB28A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5435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Consume v3 sido MAE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A20F5-DF11-4144-9B56-3A7AA5E36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5795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86868"/>
                </a:solidFill>
                <a:latin typeface="Aptos"/>
                <a:ea typeface="Aptos"/>
                <a:cs typeface="Aptos"/>
              </a:rPr>
              <a:t>dataset_report/charts, figures</a:t>
            </a:r>
          </a:p>
        </p:txBody>
      </p:sp>
    </p:spTree>
    <p:extLst>
      <p:ext uri="{BB962C8B-B14F-4D97-AF65-F5344CB8AC3E}">
        <p14:creationId xmlns:p14="http://schemas.microsoft.com/office/powerpoint/2010/main" val="1485793741"/>
      </p:ext>
    </p:extLst>
  </p:cSld>
  <p:clrMapOvr>
    <a:masterClrMapping/>
  </p:clrMapOvr>
</p:sld>
</file>

<file path=ppt/slides/slide4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D75339-D091-43D3-AFB1-C526C784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F6AC1-63E6-457A-B2BC-82854AD4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7ADCA-E7ED-4073-A3EE-79E6A9B6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ACFCB-14D7-4856-9912-5CA113F5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45082-B469-4A62-A69C-0329F5F2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F9A6F-C84D-4464-84C8-6C1E3DA1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53F0C9-50E4-42FE-965B-3A88E7EC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최종 메시지는 기능보다 구조입니다.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16707-C11B-45DA-9123-FB7FF3FA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K-Ride는 추천 결과를 보여주는 앱에서, 추천 근거와 AI 미디어까지 운영 가능한 시스템으로 확장됐습니다.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ED2B9-9A1E-4EEF-ABD3-F07F040A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952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기능의 개수가 아니라, 연결된 구조가 결과물입니다.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8DF5B-6D68-4954-95E9-CD91B733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2338388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DA722-6718-45D1-8163-A60ABA8A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1E245-1A24-418F-A018-41A1E9AF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48200"/>
            <a:ext cx="19764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3A2EC-DBC1-4D9B-930E-A52DD5A5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197643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추천과 생성의 원천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9092E-0236-4EA4-AF51-888AB21B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313" y="49815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F6501-947A-4286-855D-3946445B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476750"/>
            <a:ext cx="2338388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6109C-0DF6-4391-8E10-57F44ECE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476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88BE91-AEC0-4728-B52E-55CC171F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4648200"/>
            <a:ext cx="19764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C14525-B72C-4EB7-B279-49230791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4991100"/>
            <a:ext cx="197643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점수와 설명 산출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B3330-E518-4C1F-9420-96917E1D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815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98D54-0FB6-4692-8DB6-50058A64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76750"/>
            <a:ext cx="2338388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CA5A01-4F7D-42F8-A631-9E1D2955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76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372543-519D-45DB-8B19-AF969CF6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648200"/>
            <a:ext cx="19764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Server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E7288-E4FF-4FAE-8C8E-68DA3B3B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991100"/>
            <a:ext cx="197643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비동기와 서빙 분리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075B1F-3A6D-48B8-AE7D-D4CE7694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888" y="4981575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5DB6D9-6480-46F8-B0EA-4BA8B443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4476750"/>
            <a:ext cx="2338388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D51FE2-A53A-4954-B250-60FBA6B0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447675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B0F78-7B73-4667-B35B-21EFFF1A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213" y="4648200"/>
            <a:ext cx="19764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Screen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CA553B-CEDF-4249-BFDE-7758C3C8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213" y="4991100"/>
            <a:ext cx="1976438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사용자 경험으로 연결</a:t>
            </a:r>
          </a:p>
        </p:txBody>
      </p:sp>
    </p:spTree>
    <p:extLst>
      <p:ext uri="{BB962C8B-B14F-4D97-AF65-F5344CB8AC3E}">
        <p14:creationId xmlns:p14="http://schemas.microsoft.com/office/powerpoint/2010/main" val="854587008"/>
      </p:ext>
    </p:extLst>
  </p:cSld>
  <p:clrMapOvr>
    <a:masterClrMapping/>
  </p:clrMapOvr>
</p:sld>
</file>

<file path=ppt/slides/slide4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A0385C-671C-42B7-BC9B-AEFB00EB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07B43-6419-48A3-A8CA-C49B0469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324AB-65F9-409D-B3FC-686E0043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91325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071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E8134-FFE5-4646-9AC3-F0057F42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9D68B-BBEA-40D8-A270-8946229B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PROJECT STACK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35140F-F00D-496A-B5F7-1290B97D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2B6F3-28FA-407C-9278-157805A5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프로젝트 기술 스택과 사용 툴을 마지막에 정리했습니다.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5B4E8-503A-404E-B217-6B767D5C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기술은 서비스 레이어별로, 툴은 협업/실험/배포 흐름별로 나눠서 보면 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789D0-E08C-4C0F-8925-C3579E6D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PROJECT TECHNOLOGY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F153D-A2F8-45DB-B51D-3382AA0E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67F32-CDA9-42D9-8ABE-C0004DC7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600BF-5EC0-4991-8033-1357DC0A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FEBBD-05BF-4BE1-949E-7AF150AC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Next.js, React, TypeScript, SDUI metadata, Playwright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229EF-DB18-4BFE-97DB-BE40298F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204F6C-07C1-4FCB-909B-FF720C81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B5590-E460-4EC9-9829-CBEA8BBA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7BF8A-26DB-4DC5-A229-AFFEB4DD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81325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Spring Boot, FastAPI, REST API, JWT/auth, Gradle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340ACC-C755-41B0-9A0C-CF54F6AA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24816-F821-478F-98BE-578ECE66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67508-F4B7-42D7-92C6-4D1D3115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Data/DB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0D1227-3FBB-41C6-82DA-C4220D06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PostgreSQL, ChromaDB, Neo4j 후보, Redis, file/object 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730B58-3BE4-42F3-8FFB-71BD8387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41DFA1-9C2C-4B05-A1A6-478593F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004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419E62-D6CE-4C27-93C6-57EC5EA4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957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AI/ML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4C70A6-4841-414A-B848-C33CBE27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95725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PyTorch, pytorch-tabnet, scikit-learn, WeatherLSTM, RandomForest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1AAFF-2C80-4E6A-B229-5EF28261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E47C3C-076F-47C2-BF4D-1F30D1F4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72BCCC-B4EF-4DE7-95E2-7A0B1CA3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Media AI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47B7B-C33F-40C6-9CDB-31B19BD6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BLIP-2, GPT-SoVITS, gTTS fallback, CogVideoX 후보, 3D Photo Inpainting, FFmpeg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157A24-56D0-4657-8616-247F47F6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14850"/>
            <a:ext cx="2571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FD0ADE-38F8-4F4B-95B3-104D8A0D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5148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223C03-AC97-4BCF-9009-7D023167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610100"/>
            <a:ext cx="2305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Serving/Ops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1B3630-1903-4D04-8950-2C48488B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10125"/>
            <a:ext cx="2305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Docker Compose, TorchServe, Celery worker, MLflow model/artifact tracking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B20764-268E-42C3-9A05-AD6FEFCC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TOOLS / WORKFLOW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284BB1-2BB8-47BD-9C5A-8F0CD260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EBACEC-F0A3-4511-A797-D49E2606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D763A9-1762-405F-A36F-B2342982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Git / GitHub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D82F33-8A36-4179-86E6-7BF5EE25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813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버전관리, 브랜치, 코드 변경 이력 관리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97A88C-2C26-4837-8B22-3705DFD5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8A37F2-CDB3-4118-B516-5CE25356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F00FA1-09FC-48FC-A75B-1568DFDE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813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DagsHub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0AA6521-60CB-4FEE-9DC5-FA5F8B94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813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데이터/모델 실험 산출물과 MLflow 연동 후보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5D3E50-A3A2-4549-8A00-BAA86D2C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2F7661-7F5E-4B74-ACFD-58DEC67D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B6341B-DCEC-49DE-AF55-B57CC9AB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242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MLflow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0E13D8-FFD4-46A0-8555-9BB8EE87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2427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모델 실험 run, metric, artifact 추적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4576F9-8507-46DC-A29B-C0EAFDFF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758D08-51DA-4D82-B732-B12B284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C38A1D-12AE-4C7C-A28E-65DEC7C2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242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67C5D0-3C90-4B6E-BD6B-282A3E61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72427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로컬 서비스 묶음 실행과 재현 가능한 개발 환경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3A5D20F-D1CB-4309-9FCD-7829B6D1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97E3D0-4E50-4F4A-9814-B3DB024D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719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09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8D36F20-D854-46C2-964F-DEB1A7B0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Playwright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06D10FA-8677-4D5E-B3B2-610DE813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672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커뮤니티/SDUI 화면 테스트와 캡처 생성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4D2B3ED-5EB3-41B4-8774-507B178F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71950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EEA9EB6-18F5-433D-8039-BC6B6B1B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719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1F521A-65BA-4393-86E9-3262BB48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6720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Jupyter / Colab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E4243E8-8A72-4E9B-A7BD-6782347E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46722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ipynb 기반 모델링 실험과 GPU 실험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5DCE87-B664-46B8-800A-023405A7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CAEB29-0222-42D4-AC53-69A8146B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149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C9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6B2DCE-7D6A-43F7-ACD4-E95C6D8F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101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FFmpeg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4818BED-55C7-4F49-B59C-11A750AD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017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영상, TTS, BGM, 자막 합성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CA0314-4961-4EE3-9026-52D7B9DD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14900"/>
            <a:ext cx="2038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214"/>
          </a:solidFill>
          <a:ln xmlns:a="http://schemas.openxmlformats.org/drawingml/2006/main" w="9525">
            <a:solidFill>
              <a:srgbClr val="30303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D23BD68-F5CD-4738-89AC-B62A1F53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1490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2A08B7C-FB3C-4C65-A2F0-077FD5B5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101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Codex / VS Code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D59A2D-3EDF-4D1D-82EF-6F7DE095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210175"/>
            <a:ext cx="1771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코드 탐색, 수정, 발표자료 정리 보조</a:t>
            </a:r>
          </a:p>
        </p:txBody>
      </p:sp>
    </p:spTree>
    <p:extLst>
      <p:ext uri="{BB962C8B-B14F-4D97-AF65-F5344CB8AC3E}">
        <p14:creationId xmlns:p14="http://schemas.microsoft.com/office/powerpoint/2010/main" val="1633696789"/>
      </p:ext>
    </p:extLst>
  </p:cSld>
  <p:clrMapOvr>
    <a:masterClrMapping/>
  </p:clrMapOvr>
</p:sld>
</file>

<file path=ppt/slides/slide5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b207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/>
          <p:cNvSpPr>
            <a:spLocks noGrp="1"/>
          </p:cNvSpPr>
          <p:nvPr/>
        </p:nvSpPr>
        <p:spPr>
          <a:xfrm>
            <a:off x="514350" y="419100"/>
            <a:ext cx="95250" cy="952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/>
          <p:cNvSpPr>
            <a:spLocks noGrp="1"/>
          </p:cNvSpPr>
          <p:nvPr/>
        </p:nvSpPr>
        <p:spPr>
          <a:xfrm>
            <a:off x="7048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FINAL</a:t>
            </a:r>
            <a:endParaRPr sz="975" b="1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11049000" y="3429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47</a:t>
            </a:r>
            <a:endParaRPr sz="975" b="1">
              <a:solidFill>
                <a:srgbClr val="6868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514350" y="742950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32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최종 메시지는 기능보다 구조입니다.</a:t>
            </a:r>
            <a:endParaRPr sz="3225" b="1">
              <a:solidFill>
                <a:srgbClr val="f5f5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533400" y="16573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K-Ride는 추천 결과를 보여주는 앱에서, 추천 근거와 AI 미디어까지 운영 가능한 시스템으로 확장됐습니다.</a:t>
            </a:r>
            <a:endParaRPr sz="1350" b="0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762000" y="2857500"/>
            <a:ext cx="9525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330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기능의 개수가 아니라, 연결된 구조가 결과물입니다.</a:t>
            </a:r>
            <a:endParaRPr sz="3300" b="1">
              <a:solidFill>
                <a:srgbClr val="e5091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895350" y="4476750"/>
            <a:ext cx="2338388" cy="1047750"/>
          </a:xfrm>
          <a:prstGeom prst="rect">
            <a:avLst/>
          </a:prstGeom>
          <a:solidFill>
            <a:srgbClr val="111214"/>
          </a:solidFill>
          <a:ln w="9525">
            <a:solidFill>
              <a:srgbClr val="303030"/>
            </a:solidFill>
            <a:prstDash val="solid"/>
          </a:ln>
        </p:spPr>
      </p:sp>
      <p:sp>
        <p:nvSpPr>
          <p:cNvPr id="11" name=""/>
          <p:cNvSpPr>
            <a:spLocks noGrp="1"/>
          </p:cNvSpPr>
          <p:nvPr/>
        </p:nvSpPr>
        <p:spPr>
          <a:xfrm>
            <a:off x="895350" y="4476750"/>
            <a:ext cx="47625" cy="10477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/>
          <p:cNvSpPr>
            <a:spLocks noGrp="1"/>
          </p:cNvSpPr>
          <p:nvPr/>
        </p:nvSpPr>
        <p:spPr>
          <a:xfrm>
            <a:off x="1085850" y="4648200"/>
            <a:ext cx="1976438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Data</a:t>
            </a:r>
            <a:endParaRPr sz="1425" b="1">
              <a:solidFill>
                <a:srgbClr val="f5f5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1085850" y="4991100"/>
            <a:ext cx="1976438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추천과 생성의 원천</a:t>
            </a:r>
            <a:endParaRPr sz="1088" b="0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3262313" y="4981575"/>
            <a:ext cx="95250" cy="3810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/>
          <p:cNvSpPr>
            <a:spLocks noGrp="1"/>
          </p:cNvSpPr>
          <p:nvPr/>
        </p:nvSpPr>
        <p:spPr>
          <a:xfrm>
            <a:off x="3386138" y="4476750"/>
            <a:ext cx="2338388" cy="1047750"/>
          </a:xfrm>
          <a:prstGeom prst="rect">
            <a:avLst/>
          </a:prstGeom>
          <a:solidFill>
            <a:srgbClr val="111214"/>
          </a:solidFill>
          <a:ln w="9525">
            <a:solidFill>
              <a:srgbClr val="303030"/>
            </a:solidFill>
            <a:prstDash val="solid"/>
          </a:ln>
        </p:spPr>
      </p:sp>
      <p:sp>
        <p:nvSpPr>
          <p:cNvPr id="16" name=""/>
          <p:cNvSpPr>
            <a:spLocks noGrp="1"/>
          </p:cNvSpPr>
          <p:nvPr/>
        </p:nvSpPr>
        <p:spPr>
          <a:xfrm>
            <a:off x="3386138" y="4476750"/>
            <a:ext cx="47625" cy="1047750"/>
          </a:xfrm>
          <a:prstGeom prst="rect">
            <a:avLst/>
          </a:prstGeom>
          <a:solidFill>
            <a:srgbClr val="5aa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/>
          <p:cNvSpPr>
            <a:spLocks noGrp="1"/>
          </p:cNvSpPr>
          <p:nvPr/>
        </p:nvSpPr>
        <p:spPr>
          <a:xfrm>
            <a:off x="3576638" y="4648200"/>
            <a:ext cx="1976438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Model</a:t>
            </a:r>
            <a:endParaRPr sz="1425" b="1">
              <a:solidFill>
                <a:srgbClr val="f5f5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3576638" y="4991100"/>
            <a:ext cx="1976438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점수와 설명 산출</a:t>
            </a:r>
            <a:endParaRPr sz="1088" b="0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5753100" y="4981575"/>
            <a:ext cx="95250" cy="38100"/>
          </a:xfrm>
          <a:prstGeom prst="rect">
            <a:avLst/>
          </a:prstGeom>
          <a:solidFill>
            <a:srgbClr val="5aa7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/>
          <p:cNvSpPr>
            <a:spLocks noGrp="1"/>
          </p:cNvSpPr>
          <p:nvPr/>
        </p:nvSpPr>
        <p:spPr>
          <a:xfrm>
            <a:off x="5876925" y="4476750"/>
            <a:ext cx="2338388" cy="1047750"/>
          </a:xfrm>
          <a:prstGeom prst="rect">
            <a:avLst/>
          </a:prstGeom>
          <a:solidFill>
            <a:srgbClr val="111214"/>
          </a:solidFill>
          <a:ln w="9525">
            <a:solidFill>
              <a:srgbClr val="303030"/>
            </a:solidFill>
            <a:prstDash val="solid"/>
          </a:ln>
        </p:spPr>
      </p:sp>
      <p:sp>
        <p:nvSpPr>
          <p:cNvPr id="21" name=""/>
          <p:cNvSpPr>
            <a:spLocks noGrp="1"/>
          </p:cNvSpPr>
          <p:nvPr/>
        </p:nvSpPr>
        <p:spPr>
          <a:xfrm>
            <a:off x="5876925" y="4476750"/>
            <a:ext cx="47625" cy="1047750"/>
          </a:xfrm>
          <a:prstGeom prst="rect">
            <a:avLst/>
          </a:prstGeom>
          <a:solidFill>
            <a:srgbClr val="20c9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/>
          <p:cNvSpPr>
            <a:spLocks noGrp="1"/>
          </p:cNvSpPr>
          <p:nvPr/>
        </p:nvSpPr>
        <p:spPr>
          <a:xfrm>
            <a:off x="6067425" y="4648200"/>
            <a:ext cx="1976438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Server</a:t>
            </a:r>
            <a:endParaRPr sz="1425" b="1">
              <a:solidFill>
                <a:srgbClr val="f5f5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"/>
          <p:cNvSpPr>
            <a:spLocks noGrp="1"/>
          </p:cNvSpPr>
          <p:nvPr/>
        </p:nvSpPr>
        <p:spPr>
          <a:xfrm>
            <a:off x="6067425" y="4991100"/>
            <a:ext cx="1976438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088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비동기와 서빙 분리</a:t>
            </a:r>
            <a:endParaRPr sz="1088" b="0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"/>
          <p:cNvSpPr>
            <a:spLocks noGrp="1"/>
          </p:cNvSpPr>
          <p:nvPr/>
        </p:nvSpPr>
        <p:spPr>
          <a:xfrm>
            <a:off x="8243888" y="4981575"/>
            <a:ext cx="95250" cy="38100"/>
          </a:xfrm>
          <a:prstGeom prst="rect">
            <a:avLst/>
          </a:prstGeom>
          <a:solidFill>
            <a:srgbClr val="20c99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/>
          <p:cNvSpPr>
            <a:spLocks noGrp="1"/>
          </p:cNvSpPr>
          <p:nvPr/>
        </p:nvSpPr>
        <p:spPr>
          <a:xfrm>
            <a:off x="8367713" y="4476750"/>
            <a:ext cx="2338388" cy="1047750"/>
          </a:xfrm>
          <a:prstGeom prst="rect">
            <a:avLst/>
          </a:prstGeom>
          <a:solidFill>
            <a:srgbClr val="111214"/>
          </a:solidFill>
          <a:ln w="9525">
            <a:solidFill>
              <a:srgbClr val="303030"/>
            </a:solidFill>
            <a:prstDash val="solid"/>
          </a:ln>
        </p:spPr>
      </p:sp>
      <p:sp>
        <p:nvSpPr>
          <p:cNvPr id="26" name=""/>
          <p:cNvSpPr>
            <a:spLocks noGrp="1"/>
          </p:cNvSpPr>
          <p:nvPr/>
        </p:nvSpPr>
        <p:spPr>
          <a:xfrm>
            <a:off x="8367713" y="4476750"/>
            <a:ext cx="47625" cy="1047750"/>
          </a:xfrm>
          <a:prstGeom prst="rect">
            <a:avLst/>
          </a:prstGeom>
          <a:solidFill>
            <a:srgbClr val="ffb84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/>
          <p:cNvSpPr>
            <a:spLocks noGrp="1"/>
          </p:cNvSpPr>
          <p:nvPr/>
        </p:nvSpPr>
        <p:spPr>
          <a:xfrm>
            <a:off x="8558213" y="4648200"/>
            <a:ext cx="1976438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425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Screen</a:t>
            </a:r>
            <a:endParaRPr sz="1425" b="1">
              <a:solidFill>
                <a:srgbClr val="f5f5f1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9552146"/>
      </p:ext>
    </p:extLst>
  </p:cSld>
  <p:clrMapOvr>
    <a:masterClrMapping/>
  </p:clrMapOvr>
</p:sld>
</file>

<file path=ppt/slides/slide5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50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/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/>
          <p:cNvSpPr>
            <a:spLocks noGrp="1"/>
          </p:cNvSpPr>
          <p:nvPr/>
        </p:nvSpPr>
        <p:spPr>
          <a:xfrm>
            <a:off x="0" y="6791325"/>
            <a:ext cx="12192000" cy="66675"/>
          </a:xfrm>
          <a:prstGeom prst="rect">
            <a:avLst/>
          </a:prstGeom>
          <a:solidFill>
            <a:srgbClr val="b2071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/>
          <p:cNvSpPr>
            <a:spLocks noGrp="1"/>
          </p:cNvSpPr>
          <p:nvPr/>
        </p:nvSpPr>
        <p:spPr>
          <a:xfrm>
            <a:off x="514350" y="419100"/>
            <a:ext cx="95250" cy="95250"/>
          </a:xfrm>
          <a:prstGeom prst="rect">
            <a:avLst/>
          </a:prstGeom>
          <a:solidFill>
            <a:srgbClr val="e509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/>
          <p:cNvSpPr>
            <a:spLocks noGrp="1"/>
          </p:cNvSpPr>
          <p:nvPr/>
        </p:nvSpPr>
        <p:spPr>
          <a:xfrm>
            <a:off x="704850" y="342900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975" b="1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6a6a6"/>
                </a:solidFill>
                <a:latin typeface="Aptos"/>
                <a:ea typeface="Aptos"/>
                <a:cs typeface="Aptos"/>
              </a:rPr>
              <a:t>MOTIVATION</a:t>
            </a:r>
            <a:endParaRPr sz="975" b="1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11049000" y="342900"/>
            <a:ext cx="57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r">
              <a:defRPr sz="975" b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6868"/>
                </a:solidFill>
                <a:latin typeface="Aptos"/>
                <a:ea typeface="Aptos"/>
                <a:cs typeface="Aptos"/>
              </a:rPr>
              <a:t>02</a:t>
            </a:r>
            <a:endParaRPr sz="975" b="1">
              <a:solidFill>
                <a:srgbClr val="6868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809953" y="3571875"/>
            <a:ext cx="8953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민예린 카카오톡 </a:t>
            </a:r>
            <a:r>
              <a:rPr lang="en-US" altLang="ko-KR"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myeliln12</a:t>
            </a:r>
            <a:endParaRPr lang="en-US" altLang="ko-KR" sz="2550" b="1">
              <a:solidFill>
                <a:srgbClr val="f5f5f1"/>
              </a:solidFill>
              <a:latin typeface="Aptos"/>
              <a:ea typeface="Aptos"/>
              <a:cs typeface="Aptos"/>
            </a:endParaRPr>
          </a:p>
          <a:p>
            <a:pPr lvl="0" algn="l">
              <a:defRPr sz="2550" b="1">
                <a:solidFill>
                  <a:srgbClr val="f5f5f1"/>
                </a:solidFill>
                <a:latin typeface="Aptos"/>
                <a:ea typeface="Aptos"/>
                <a:cs typeface="Aptos"/>
              </a:defRPr>
            </a:pPr>
            <a:r>
              <a:rPr lang="en-US" altLang="ko-KR" sz="2550" b="1">
                <a:solidFill>
                  <a:srgbClr val="f5f5f1"/>
                </a:solidFill>
                <a:latin typeface="Aptos"/>
                <a:ea typeface="Aptos"/>
                <a:cs typeface="Aptos"/>
              </a:rPr>
              <a:t>010-4641-2537</a:t>
            </a:r>
            <a:endParaRPr lang="en-US" altLang="ko-KR" sz="2550" b="1">
              <a:solidFill>
                <a:srgbClr val="f5f5f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533400" y="16573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1350" b="0">
                <a:solidFill>
                  <a:srgbClr val="a6a6a6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1350" b="0">
                <a:solidFill>
                  <a:srgbClr val="a6a6a6"/>
                </a:solidFill>
                <a:latin typeface="Aptos"/>
                <a:ea typeface="Aptos"/>
                <a:cs typeface="Aptos"/>
              </a:rPr>
              <a:t> </a:t>
            </a:r>
            <a:endParaRPr lang="ko-KR" altLang="en-US" sz="1350" b="0">
              <a:solidFill>
                <a:srgbClr val="a6a6a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781050" y="2762250"/>
            <a:ext cx="9525000" cy="904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lvl="0" algn="l">
              <a:defRPr sz="3450" b="1">
                <a:solidFill>
                  <a:srgbClr val="e50914"/>
                </a:solidFill>
                <a:latin typeface="Aptos"/>
                <a:ea typeface="Aptos"/>
                <a:cs typeface="Aptos"/>
              </a:defRPr>
            </a:pPr>
            <a:r>
              <a:rPr lang="ko-KR" altLang="en-US" sz="34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작은 씨앗을 뿌려봅니다</a:t>
            </a:r>
            <a:r>
              <a:rPr lang="en-US" altLang="ko-KR" sz="3450" b="1">
                <a:solidFill>
                  <a:srgbClr val="e50914"/>
                </a:solidFill>
                <a:latin typeface="Aptos"/>
                <a:ea typeface="Aptos"/>
                <a:cs typeface="Aptos"/>
              </a:rPr>
              <a:t>.</a:t>
            </a:r>
            <a:endParaRPr lang="en-US" altLang="ko-KR" sz="3450" b="1">
              <a:solidFill>
                <a:srgbClr val="e50914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23925195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1899</ep:Words>
  <ep:PresentationFormat>Converted Presentation</ep:PresentationFormat>
  <ep:Paragraphs>539</ep:Paragraphs>
  <ep:Slides>51</ep:Slides>
  <ep:Notes>51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ep:HeadingPairs>
  <ep:TitlesOfParts>
    <vt:vector size="52" baseType="lpstr">
      <vt:lpstr>ChatGPT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Samsung</cp:lastModifiedBy>
  <dcterms:modified xsi:type="dcterms:W3CDTF">2026-05-22T00:35:33.415</dcterms:modified>
  <cp:revision>4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